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571221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ANTICIPATORY ACTION · TROPICAL CYCLONES · FIJI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774421"/>
            <a:ext cx="9990667" cy="87233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3450"/>
              </a:lnSpc>
            </a:pPr>
            <a:r>
              <a:rPr sz="3000" b="1" i="0">
                <a:solidFill>
                  <a:srgbClr val="1E2A2B"/>
                </a:solidFill>
                <a:latin typeface="Arial"/>
              </a:rPr>
              <a:t>The 2025–26 cyclone season:</a:t>
            </a:r>
            <a:br/>
            <a:r>
              <a:rPr sz="3000" b="1" i="0">
                <a:solidFill>
                  <a:srgbClr val="1E2A2B"/>
                </a:solidFill>
                <a:latin typeface="Arial"/>
              </a:rPr>
              <a:t>how close did the trigger come?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2346113" y="3799152"/>
            <a:ext cx="7499773" cy="48762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ctr">
              <a:lnSpc>
                <a:spcPts val="1900"/>
              </a:lnSpc>
            </a:pPr>
            <a:r>
              <a:rPr sz="1300" b="0" i="0">
                <a:solidFill>
                  <a:srgbClr val="1E2A2B"/>
                </a:solidFill>
                <a:latin typeface="Arial"/>
              </a:rPr>
              <a:t>RSMC Nadi sent forecasts for two cyclones near Fiji: </a:t>
            </a:r>
            <a:r>
              <a:rPr sz="1300" b="1" i="0">
                <a:solidFill>
                  <a:srgbClr val="1E2A2B"/>
                </a:solidFill>
                <a:latin typeface="Arial"/>
              </a:rPr>
              <a:t>Urmil</a:t>
            </a:r>
            <a:r>
              <a:rPr sz="1300" b="0" i="0">
                <a:solidFill>
                  <a:srgbClr val="1E2A2B"/>
                </a:solidFill>
                <a:latin typeface="Arial"/>
              </a:rPr>
              <a:t> in February and </a:t>
            </a:r>
            <a:r>
              <a:rPr sz="1300" b="1" i="0">
                <a:solidFill>
                  <a:srgbClr val="1E2A2B"/>
                </a:solidFill>
                <a:latin typeface="Arial"/>
              </a:rPr>
              <a:t>Vaianu</a:t>
            </a:r>
            <a:r>
              <a:rPr sz="1300" b="0" i="0">
                <a:solidFill>
                  <a:srgbClr val="1E2A2B"/>
                </a:solidFill>
                <a:latin typeface="Arial"/>
              </a:rPr>
              <a:t> in April. We step through every forecast and check it against the trigger.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195645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REMINDER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398845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What would have activated the framework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76400" y="2826279"/>
            <a:ext cx="2878667" cy="1540801"/>
            <a:chOff x="1676400" y="2826279"/>
            <a:chExt cx="2878667" cy="1540801"/>
          </a:xfrm>
        </p:grpSpPr>
        <p:sp>
          <p:nvSpPr>
            <p:cNvPr id="5" name="cond or"/>
            <p:cNvSpPr/>
            <p:nvPr/>
          </p:nvSpPr>
          <p:spPr>
            <a:xfrm>
              <a:off x="1676400" y="2826279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🌀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Readiness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≥ 5,000 people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in the zone forecast to get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64-kt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(hurricane-force) winds, in the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120-hour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forecast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676400" y="2826279"/>
              <a:ext cx="2878667" cy="42333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656667" y="2826279"/>
            <a:ext cx="2878667" cy="1540801"/>
            <a:chOff x="4656667" y="2826279"/>
            <a:chExt cx="2878667" cy="1540801"/>
          </a:xfrm>
        </p:grpSpPr>
        <p:sp>
          <p:nvSpPr>
            <p:cNvPr id="8" name="cond rd"/>
            <p:cNvSpPr/>
            <p:nvPr/>
          </p:nvSpPr>
          <p:spPr>
            <a:xfrm>
              <a:off x="4656667" y="2826279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non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🌀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Action</a:t>
              </a:r>
            </a:p>
            <a:p>
              <a:pPr algn="ctr">
                <a:lnSpc>
                  <a:spcPts val="1400"/>
                </a:lnSpc>
              </a:pPr>
              <a:r>
                <a:rPr sz="1000" b="0" i="0">
                  <a:solidFill>
                    <a:srgbClr val="5E6A6B"/>
                  </a:solidFill>
                  <a:latin typeface="Arial"/>
                </a:rPr>
                <a:t>The same, within the first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72 hours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56667" y="2826279"/>
              <a:ext cx="2878667" cy="42333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7636933" y="2826279"/>
            <a:ext cx="2878667" cy="1540801"/>
            <a:chOff x="7636933" y="2826279"/>
            <a:chExt cx="2878667" cy="1540801"/>
          </a:xfrm>
        </p:grpSpPr>
        <p:sp>
          <p:nvSpPr>
            <p:cNvPr id="11" name="cond pu"/>
            <p:cNvSpPr/>
            <p:nvPr/>
          </p:nvSpPr>
          <p:spPr>
            <a:xfrm>
              <a:off x="7636933" y="2826279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🌧️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Observational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≥ 190 mm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of rain over two days, averaged over the whole country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636933" y="2826279"/>
              <a:ext cx="2878667" cy="42333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note"/>
          <p:cNvSpPr txBox="1"/>
          <p:nvPr/>
        </p:nvSpPr>
        <p:spPr>
          <a:xfrm>
            <a:off x="1100667" y="4485614"/>
            <a:ext cx="9990667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On each forecast slide: the number of people in the 64-kt zone, and how far the 64-kt winds stayed from land. 64 knots (118 km/h) is the minimum for a Category 3 cyclone.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423980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2025–26 SEASON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627180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13 forecasts, no activation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2286000" y="3054615"/>
          <a:ext cx="7611532" cy="107553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3432"/>
                <a:gridCol w="1389856"/>
                <a:gridCol w="2046287"/>
                <a:gridCol w="1624145"/>
                <a:gridCol w="1547812"/>
              </a:tblGrid>
              <a:tr h="368300"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CYCLONE</a:t>
                      </a:r>
                    </a:p>
                  </a:txBody>
                  <a:tcPr marT="76200" marR="101600" marB="76200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FORECASTS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STRONGEST FORECAST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CLOSEST CENTRE</a:t>
                      </a:r>
                      <a:br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TO LAND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MOST PEOPLE IN</a:t>
                      </a:r>
                      <a:br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64-KT ZONE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355732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Urmil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4 · 27–28 Feb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Category 2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430 km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Vaianu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9 · 5–8 Apr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Category 3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195 km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1100667" y="4257146"/>
            <a:ext cx="9990667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Threshold: 5,000 people. Times are Fiji time, when the forecast was issued.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98071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URMIL · 27–28 FEBRUARY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701271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Never close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98807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251207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All 4 forecasts kept Urmil far to the south-west and south of Fiji, at most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2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— no hurricane-force winds were forecast at all. Its centre stayed at least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430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3028156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note"/>
          <p:cNvSpPr txBox="1"/>
          <p:nvPr/>
        </p:nvSpPr>
        <p:spPr>
          <a:xfrm>
            <a:off x="365654" y="5183055"/>
            <a:ext cx="4240345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Map: latest forecast in black, earlier forecasts in grey.</a:t>
            </a:r>
          </a:p>
        </p:txBody>
      </p:sp>
      <p:pic>
        <p:nvPicPr>
          <p:cNvPr id="8" name="picture" descr="Forecast tracks for Cyclone Urmi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618" y="531680"/>
            <a:ext cx="5921243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TROPICAL DISTURBANCE 11F · FORECAST 1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Sun 5 Apr, 18:00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First forecast, before the system was named: forecast to reach Category 2 west of Fiji, with no hurricane-force winds.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No 64-kt winds forecast. Storm centre 200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Sun 5 Apr, 18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2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Mon 6 Apr, 00:00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215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215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260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Mon 6 Apr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3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Mon 6 Apr, 06:00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155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155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200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Mon 6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4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Mon 6 Apr, 12:00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140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140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195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Mon 6 Apr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5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Mon 6 Apr, 18:00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155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155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220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Mon 6 Apr, 18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6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Tue 7 Apr, 00:00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165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165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230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Tue 7 Apr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7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Tue 7 Apr, 06:00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130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130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195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Tue 7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8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Tue 7 Apr, 12:00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190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190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250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Tue 7 Apr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424914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VAIANU · FORECAST 9 OF 9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628114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Wed 8 Apr, 06:00</a:t>
            </a:r>
          </a:p>
        </p:txBody>
      </p:sp>
      <p:sp>
        <p:nvSpPr>
          <p:cNvPr id="4" name="rule"/>
          <p:cNvSpPr/>
          <p:nvPr/>
        </p:nvSpPr>
        <p:spPr>
          <a:xfrm>
            <a:off x="365654" y="202565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de"/>
          <p:cNvSpPr txBox="1"/>
          <p:nvPr/>
        </p:nvSpPr>
        <p:spPr>
          <a:xfrm>
            <a:off x="365654" y="2178050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Forecast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3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passing west and south of Viti Levu. Its hurricane-force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220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365654" y="2735527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365654" y="4890426"/>
            <a:ext cx="4240345" cy="542396"/>
            <a:chOff x="365654" y="4890426"/>
            <a:chExt cx="4240345" cy="542396"/>
          </a:xfrm>
        </p:grpSpPr>
        <p:sp>
          <p:nvSpPr>
            <p:cNvPr id="8" name="callout grey"/>
            <p:cNvSpPr/>
            <p:nvPr/>
          </p:nvSpPr>
          <p:spPr>
            <a:xfrm>
              <a:off x="365654" y="4890426"/>
              <a:ext cx="4240345" cy="542396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How close?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64-kt winds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220 km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from land. Storm centre 275 km from land at its closest.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890426"/>
              <a:ext cx="33867" cy="542396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Forecast map for Vaianu, Wed 8 Apr, 06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676" y="531680"/>
            <a:ext cx="5664994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1014280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VAIANU · OBSERVATIONAL TRIGGER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1217480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Heavy rain in western Viti Levu — but far below the threshold</a:t>
            </a:r>
          </a:p>
        </p:txBody>
      </p:sp>
      <p:pic>
        <p:nvPicPr>
          <p:cNvPr id="4" name="picture" descr="Observed 2-day rainfall, 6–7 Ap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667" y="1644915"/>
            <a:ext cx="4944533" cy="366633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  <p:sp>
        <p:nvSpPr>
          <p:cNvPr id="5" name="figcaption"/>
          <p:cNvSpPr txBox="1"/>
          <p:nvPr/>
        </p:nvSpPr>
        <p:spPr>
          <a:xfrm>
            <a:off x="1100667" y="5395912"/>
            <a:ext cx="4944533" cy="15240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1050" b="1" i="0">
                <a:solidFill>
                  <a:srgbClr val="1E2A2B"/>
                </a:solidFill>
                <a:latin typeface="Arial"/>
              </a:rPr>
              <a:t>6–7 Apr: 72 mm</a:t>
            </a:r>
            <a:r>
              <a:rPr sz="1050" b="0" i="0">
                <a:solidFill>
                  <a:srgbClr val="1E2A2B"/>
                </a:solidFill>
                <a:latin typeface="Arial"/>
              </a:rPr>
              <a:t> country average (threshold 190 mm)</a:t>
            </a:r>
          </a:p>
        </p:txBody>
      </p:sp>
      <p:pic>
        <p:nvPicPr>
          <p:cNvPr id="6" name="picture" descr="Observed 2-day rainfall, 7–8 Ap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800" y="1644915"/>
            <a:ext cx="4944533" cy="366633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  <p:sp>
        <p:nvSpPr>
          <p:cNvPr id="7" name="figcaption"/>
          <p:cNvSpPr txBox="1"/>
          <p:nvPr/>
        </p:nvSpPr>
        <p:spPr>
          <a:xfrm>
            <a:off x="6146800" y="5395912"/>
            <a:ext cx="4944533" cy="15240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1050" b="1" i="0">
                <a:solidFill>
                  <a:srgbClr val="1E2A2B"/>
                </a:solidFill>
                <a:latin typeface="Arial"/>
              </a:rPr>
              <a:t>7–8 Apr: 42 mm</a:t>
            </a:r>
            <a:r>
              <a:rPr sz="1050" b="0" i="0">
                <a:solidFill>
                  <a:srgbClr val="1E2A2B"/>
                </a:solidFill>
                <a:latin typeface="Arial"/>
              </a:rPr>
              <a:t> country average (threshold 190 mm)</a:t>
            </a:r>
          </a:p>
        </p:txBody>
      </p:sp>
      <p:sp>
        <p:nvSpPr>
          <p:cNvPr id="8" name="note"/>
          <p:cNvSpPr txBox="1"/>
          <p:nvPr/>
        </p:nvSpPr>
        <p:spPr>
          <a:xfrm>
            <a:off x="1100667" y="5666846"/>
            <a:ext cx="9990667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NASA IMERG satellite rainfall, as sent in the observational information emails on 7 and 8 April.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629311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832511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Vaianu came closest — and it was not close</a:t>
            </a:r>
          </a:p>
        </p:txBody>
      </p:sp>
      <p:pic>
        <p:nvPicPr>
          <p:cNvPr id="4" name="picture" descr="Distance of Vaianu's forecast 64-kt winds from land, by foreca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333" y="1259946"/>
            <a:ext cx="7281333" cy="2922588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  <p:sp>
        <p:nvSpPr>
          <p:cNvPr id="5" name="LI"/>
          <p:cNvSpPr/>
          <p:nvPr/>
        </p:nvSpPr>
        <p:spPr>
          <a:xfrm>
            <a:off x="2624667" y="4318000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Every one of the 13 forecasts had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0 people</a:t>
            </a:r>
            <a:r>
              <a:rPr sz="1050" b="0" i="0">
                <a:solidFill>
                  <a:srgbClr val="1E2A2B"/>
                </a:solidFill>
                <a:latin typeface="Arial"/>
              </a:rPr>
              <a:t> in the 64-kt zone (threshold 5,000). Vaianu's hurricane-force winds stayed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130 km or more</a:t>
            </a:r>
            <a:r>
              <a:rPr sz="1050" b="0" i="0">
                <a:solidFill>
                  <a:srgbClr val="1E2A2B"/>
                </a:solidFill>
                <a:latin typeface="Arial"/>
              </a:rPr>
              <a:t> offshore.</a:t>
            </a:r>
          </a:p>
        </p:txBody>
      </p:sp>
      <p:sp>
        <p:nvSpPr>
          <p:cNvPr id="6" name="LI"/>
          <p:cNvSpPr/>
          <p:nvPr/>
        </p:nvSpPr>
        <p:spPr>
          <a:xfrm>
            <a:off x="2624667" y="5021262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Only the uncertainty cone's worst case reached populated areas, on 6–7 April. The trigger uses the forecast track itself, so this alone does not activate.</a:t>
            </a:r>
          </a:p>
        </p:txBody>
      </p:sp>
      <p:sp>
        <p:nvSpPr>
          <p:cNvPr id="7" name="LI"/>
          <p:cNvSpPr/>
          <p:nvPr/>
        </p:nvSpPr>
        <p:spPr>
          <a:xfrm>
            <a:off x="2624667" y="5724525"/>
            <a:ext cx="6942667" cy="419365"/>
          </a:xfrm>
          <a:prstGeom prst="roundRect">
            <a:avLst>
              <a:gd name="adj" fmla="val 24227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Rainfall peaked at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72 mm</a:t>
            </a:r>
            <a:r>
              <a:rPr sz="1050" b="0" i="0">
                <a:solidFill>
                  <a:srgbClr val="1E2A2B"/>
                </a:solidFill>
                <a:latin typeface="Arial"/>
              </a:rPr>
              <a:t> (2-day country average), against 190 mm.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Fiji AA 2025–26 season look-back</dc:title>
  <dc:subject/>
  <dc:creator>OCHA Centre for Humanitarian Data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