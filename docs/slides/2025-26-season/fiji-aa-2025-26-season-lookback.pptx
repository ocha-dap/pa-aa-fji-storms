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1100667" y="2571221"/>
            <a:ext cx="9990667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/>
            <a:r>
              <a:rPr sz="850" b="1" i="0" spc="116">
                <a:solidFill>
                  <a:srgbClr val="1862D8"/>
                </a:solidFill>
                <a:latin typeface="Arial"/>
              </a:rPr>
              <a:t>ANTICIPATORY ACTION · TROPICAL CYCLONES · FIJI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100667" y="2774421"/>
            <a:ext cx="9990667" cy="872331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>
              <a:lnSpc>
                <a:spcPts val="3450"/>
              </a:lnSpc>
            </a:pPr>
            <a:r>
              <a:rPr sz="3000" b="1" i="0">
                <a:solidFill>
                  <a:srgbClr val="1E2A2B"/>
                </a:solidFill>
                <a:latin typeface="Arial"/>
              </a:rPr>
              <a:t>The 2025–26 cyclone season:</a:t>
            </a:r>
            <a:br/>
            <a:r>
              <a:rPr sz="3000" b="1" i="0">
                <a:solidFill>
                  <a:srgbClr val="1E2A2B"/>
                </a:solidFill>
                <a:latin typeface="Arial"/>
              </a:rPr>
              <a:t>how close did the trigger come?</a:t>
            </a:r>
          </a:p>
        </p:txBody>
      </p:sp>
      <p:sp>
        <p:nvSpPr>
          <p:cNvPr id="4" name="lead"/>
          <p:cNvSpPr txBox="1"/>
          <p:nvPr/>
        </p:nvSpPr>
        <p:spPr>
          <a:xfrm>
            <a:off x="2346113" y="3799152"/>
            <a:ext cx="7499773" cy="487627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900"/>
              </a:lnSpc>
            </a:pPr>
            <a:r>
              <a:rPr sz="1300" b="0" i="0">
                <a:solidFill>
                  <a:srgbClr val="1E2A2B"/>
                </a:solidFill>
                <a:latin typeface="Arial"/>
              </a:rPr>
              <a:t>RSMC Nadi sent forecasts for two cyclones near Fiji: </a:t>
            </a:r>
            <a:r>
              <a:rPr sz="1300" b="1" i="0">
                <a:solidFill>
                  <a:srgbClr val="1E2A2B"/>
                </a:solidFill>
                <a:latin typeface="Arial"/>
              </a:rPr>
              <a:t>Urmil</a:t>
            </a:r>
            <a:r>
              <a:rPr sz="1300" b="0" i="0">
                <a:solidFill>
                  <a:srgbClr val="1E2A2B"/>
                </a:solidFill>
                <a:latin typeface="Arial"/>
              </a:rPr>
              <a:t> in February and </a:t>
            </a:r>
            <a:r>
              <a:rPr sz="1300" b="1" i="0">
                <a:solidFill>
                  <a:srgbClr val="1E2A2B"/>
                </a:solidFill>
                <a:latin typeface="Arial"/>
              </a:rPr>
              <a:t>Vaianu</a:t>
            </a:r>
            <a:r>
              <a:rPr sz="1300" b="0" i="0">
                <a:solidFill>
                  <a:srgbClr val="1E2A2B"/>
                </a:solidFill>
                <a:latin typeface="Arial"/>
              </a:rPr>
              <a:t> in April. We step through every forecast and check it against the trigger.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1100667" y="2195645"/>
            <a:ext cx="9990667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/>
            <a:r>
              <a:rPr sz="850" b="1" i="0" spc="116">
                <a:solidFill>
                  <a:srgbClr val="1862D8"/>
                </a:solidFill>
                <a:latin typeface="Arial"/>
              </a:rPr>
              <a:t>REMINDER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100667" y="2398845"/>
            <a:ext cx="9990667" cy="308901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>
              <a:lnSpc>
                <a:spcPts val="2450"/>
              </a:lnSpc>
            </a:pPr>
            <a:r>
              <a:rPr sz="2050" b="1" i="0">
                <a:solidFill>
                  <a:srgbClr val="1E2A2B"/>
                </a:solidFill>
                <a:latin typeface="Arial"/>
              </a:rPr>
              <a:t>What would have activated the framework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676400" y="2826279"/>
            <a:ext cx="2878667" cy="1540801"/>
            <a:chOff x="1676400" y="2826279"/>
            <a:chExt cx="2878667" cy="1540801"/>
          </a:xfrm>
        </p:grpSpPr>
        <p:sp>
          <p:nvSpPr>
            <p:cNvPr id="5" name="cond or"/>
            <p:cNvSpPr/>
            <p:nvPr/>
          </p:nvSpPr>
          <p:spPr>
            <a:xfrm>
              <a:off x="1676400" y="2826279"/>
              <a:ext cx="2878667" cy="1540801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8467">
              <a:solidFill>
                <a:srgbClr val="DDE5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194733" rIns="143933" bIns="160867" lIns="143933">
              <a:noAutofit/>
            </a:bodyPr>
            <a:lstStyle/>
            <a:p>
              <a:pPr algn="ctr">
                <a:spcAft>
                  <a:spcPts val="530"/>
                </a:spcAft>
              </a:pPr>
              <a:r>
                <a:rPr sz="2150" b="0" i="0">
                  <a:solidFill>
                    <a:srgbClr val="1E2A2B"/>
                  </a:solidFill>
                  <a:latin typeface="Arial"/>
                </a:rPr>
                <a:t>🌀</a:t>
              </a:r>
            </a:p>
            <a:p>
              <a:pPr algn="ctr">
                <a:spcAft>
                  <a:spcPts val="400"/>
                </a:spcAft>
              </a:pPr>
              <a:r>
                <a:rPr sz="1100" b="1" i="0">
                  <a:solidFill>
                    <a:srgbClr val="1E2A2B"/>
                  </a:solidFill>
                  <a:latin typeface="Arial"/>
                </a:rPr>
                <a:t>Readiness</a:t>
              </a:r>
            </a:p>
            <a:p>
              <a:pPr algn="ctr">
                <a:lnSpc>
                  <a:spcPts val="1400"/>
                </a:lnSpc>
              </a:pPr>
              <a:r>
                <a:rPr sz="1000" b="1" i="0">
                  <a:solidFill>
                    <a:srgbClr val="1E2A2B"/>
                  </a:solidFill>
                  <a:latin typeface="Arial"/>
                </a:rPr>
                <a:t>≥ 5,000 people</a:t>
              </a:r>
              <a:r>
                <a:rPr sz="1000" b="0" i="0">
                  <a:solidFill>
                    <a:srgbClr val="5E6A6B"/>
                  </a:solidFill>
                  <a:latin typeface="Arial"/>
                </a:rPr>
                <a:t> in the zone forecast to get </a:t>
              </a:r>
              <a:r>
                <a:rPr sz="1000" b="1" i="0">
                  <a:solidFill>
                    <a:srgbClr val="1E2A2B"/>
                  </a:solidFill>
                  <a:latin typeface="Arial"/>
                </a:rPr>
                <a:t>64-kt</a:t>
              </a:r>
              <a:r>
                <a:rPr sz="1000" b="0" i="0">
                  <a:solidFill>
                    <a:srgbClr val="5E6A6B"/>
                  </a:solidFill>
                  <a:latin typeface="Arial"/>
                </a:rPr>
                <a:t> (hurricane-force) winds, in the </a:t>
              </a:r>
              <a:r>
                <a:rPr sz="1000" b="1" i="0">
                  <a:solidFill>
                    <a:srgbClr val="1E2A2B"/>
                  </a:solidFill>
                  <a:latin typeface="Arial"/>
                </a:rPr>
                <a:t>120-hour</a:t>
              </a:r>
              <a:r>
                <a:rPr sz="1000" b="0" i="0">
                  <a:solidFill>
                    <a:srgbClr val="5E6A6B"/>
                  </a:solidFill>
                  <a:latin typeface="Arial"/>
                </a:rPr>
                <a:t> forecast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676400" y="2826279"/>
              <a:ext cx="2878667" cy="42333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656667" y="2826279"/>
            <a:ext cx="2878667" cy="1540801"/>
            <a:chOff x="4656667" y="2826279"/>
            <a:chExt cx="2878667" cy="1540801"/>
          </a:xfrm>
        </p:grpSpPr>
        <p:sp>
          <p:nvSpPr>
            <p:cNvPr id="8" name="cond rd"/>
            <p:cNvSpPr/>
            <p:nvPr/>
          </p:nvSpPr>
          <p:spPr>
            <a:xfrm>
              <a:off x="4656667" y="2826279"/>
              <a:ext cx="2878667" cy="1540801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8467">
              <a:solidFill>
                <a:srgbClr val="DDE5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none" tIns="194733" rIns="143933" bIns="160867" lIns="143933">
              <a:noAutofit/>
            </a:bodyPr>
            <a:lstStyle/>
            <a:p>
              <a:pPr algn="ctr">
                <a:spcAft>
                  <a:spcPts val="530"/>
                </a:spcAft>
              </a:pPr>
              <a:r>
                <a:rPr sz="2150" b="0" i="0">
                  <a:solidFill>
                    <a:srgbClr val="1E2A2B"/>
                  </a:solidFill>
                  <a:latin typeface="Arial"/>
                </a:rPr>
                <a:t>🌀</a:t>
              </a:r>
            </a:p>
            <a:p>
              <a:pPr algn="ctr">
                <a:spcAft>
                  <a:spcPts val="400"/>
                </a:spcAft>
              </a:pPr>
              <a:r>
                <a:rPr sz="1100" b="1" i="0">
                  <a:solidFill>
                    <a:srgbClr val="1E2A2B"/>
                  </a:solidFill>
                  <a:latin typeface="Arial"/>
                </a:rPr>
                <a:t>Action</a:t>
              </a:r>
            </a:p>
            <a:p>
              <a:pPr algn="ctr">
                <a:lnSpc>
                  <a:spcPts val="1400"/>
                </a:lnSpc>
              </a:pPr>
              <a:r>
                <a:rPr sz="1000" b="0" i="0">
                  <a:solidFill>
                    <a:srgbClr val="5E6A6B"/>
                  </a:solidFill>
                  <a:latin typeface="Arial"/>
                </a:rPr>
                <a:t>The same, within the first </a:t>
              </a:r>
              <a:r>
                <a:rPr sz="1000" b="1" i="0">
                  <a:solidFill>
                    <a:srgbClr val="1E2A2B"/>
                  </a:solidFill>
                  <a:latin typeface="Arial"/>
                </a:rPr>
                <a:t>72 hours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56667" y="2826279"/>
              <a:ext cx="2878667" cy="42333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636933" y="2826279"/>
            <a:ext cx="2878667" cy="1540801"/>
            <a:chOff x="7636933" y="2826279"/>
            <a:chExt cx="2878667" cy="1540801"/>
          </a:xfrm>
        </p:grpSpPr>
        <p:sp>
          <p:nvSpPr>
            <p:cNvPr id="11" name="cond pu"/>
            <p:cNvSpPr/>
            <p:nvPr/>
          </p:nvSpPr>
          <p:spPr>
            <a:xfrm>
              <a:off x="7636933" y="2826279"/>
              <a:ext cx="2878667" cy="1540801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8467">
              <a:solidFill>
                <a:srgbClr val="DDE5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194733" rIns="143933" bIns="160867" lIns="143933">
              <a:noAutofit/>
            </a:bodyPr>
            <a:lstStyle/>
            <a:p>
              <a:pPr algn="ctr">
                <a:spcAft>
                  <a:spcPts val="530"/>
                </a:spcAft>
              </a:pPr>
              <a:r>
                <a:rPr sz="2150" b="0" i="0">
                  <a:solidFill>
                    <a:srgbClr val="1E2A2B"/>
                  </a:solidFill>
                  <a:latin typeface="Arial"/>
                </a:rPr>
                <a:t>🌧️</a:t>
              </a:r>
            </a:p>
            <a:p>
              <a:pPr algn="ctr">
                <a:spcAft>
                  <a:spcPts val="400"/>
                </a:spcAft>
              </a:pPr>
              <a:r>
                <a:rPr sz="1100" b="1" i="0">
                  <a:solidFill>
                    <a:srgbClr val="1E2A2B"/>
                  </a:solidFill>
                  <a:latin typeface="Arial"/>
                </a:rPr>
                <a:t>Observational</a:t>
              </a:r>
            </a:p>
            <a:p>
              <a:pPr algn="ctr">
                <a:lnSpc>
                  <a:spcPts val="1400"/>
                </a:lnSpc>
              </a:pPr>
              <a:r>
                <a:rPr sz="1000" b="1" i="0">
                  <a:solidFill>
                    <a:srgbClr val="1E2A2B"/>
                  </a:solidFill>
                  <a:latin typeface="Arial"/>
                </a:rPr>
                <a:t>≥ 190 mm</a:t>
              </a:r>
              <a:r>
                <a:rPr sz="1000" b="0" i="0">
                  <a:solidFill>
                    <a:srgbClr val="5E6A6B"/>
                  </a:solidFill>
                  <a:latin typeface="Arial"/>
                </a:rPr>
                <a:t> of rain over two days, averaged over the whole country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636933" y="2826279"/>
              <a:ext cx="2878667" cy="42333"/>
            </a:xfrm>
            <a:prstGeom prst="rect">
              <a:avLst/>
            </a:prstGeom>
            <a:solidFill>
              <a:srgbClr val="6A3D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" name="note"/>
          <p:cNvSpPr txBox="1"/>
          <p:nvPr/>
        </p:nvSpPr>
        <p:spPr>
          <a:xfrm>
            <a:off x="1100667" y="4485614"/>
            <a:ext cx="9990667" cy="176742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>
              <a:lnSpc>
                <a:spcPts val="1400"/>
              </a:lnSpc>
            </a:pPr>
            <a:r>
              <a:rPr sz="950" b="0" i="0">
                <a:solidFill>
                  <a:srgbClr val="5E6A6B"/>
                </a:solidFill>
                <a:latin typeface="Arial"/>
              </a:rPr>
              <a:t>On each forecast slide: the number of people in the 64-kt zone, and how far the 64-kt winds stayed from land. 64 knots (118 km/h) is the minimum for a Category 3 cyclone.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1100667" y="2423980"/>
            <a:ext cx="9990667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/>
            <a:r>
              <a:rPr sz="850" b="1" i="0" spc="116">
                <a:solidFill>
                  <a:srgbClr val="1862D8"/>
                </a:solidFill>
                <a:latin typeface="Arial"/>
              </a:rPr>
              <a:t>2025–26 SEASON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100667" y="2627180"/>
            <a:ext cx="9990667" cy="308901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>
              <a:lnSpc>
                <a:spcPts val="2450"/>
              </a:lnSpc>
            </a:pPr>
            <a:r>
              <a:rPr sz="2050" b="1" i="0">
                <a:solidFill>
                  <a:srgbClr val="1E2A2B"/>
                </a:solidFill>
                <a:latin typeface="Arial"/>
              </a:rPr>
              <a:t>13 forecasts, no activation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2286000" y="3054615"/>
          <a:ext cx="7611532" cy="107553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03432"/>
                <a:gridCol w="1389856"/>
                <a:gridCol w="2046287"/>
                <a:gridCol w="1624145"/>
                <a:gridCol w="1547812"/>
              </a:tblGrid>
              <a:tr h="368300">
                <a:tc>
                  <a:txBody>
                    <a:bodyPr wrap="none" tIns="76200" rIns="101600" bIns="76200" lIns="101600" anchor="ctr">
                      <a:noAutofit/>
                    </a:bodyPr>
                    <a:lstStyle/>
                    <a:p>
                      <a:pPr algn="l"/>
                      <a:r>
                        <a:rPr sz="750" b="1" i="0" spc="46">
                          <a:solidFill>
                            <a:srgbClr val="5E6A6B"/>
                          </a:solidFill>
                          <a:latin typeface="Arial"/>
                        </a:rPr>
                        <a:t>CYCLONE</a:t>
                      </a:r>
                    </a:p>
                  </a:txBody>
                  <a:tcPr marT="76200" marR="101600" marB="76200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76200" rIns="101600" bIns="76200" lIns="101600" anchor="ctr">
                      <a:noAutofit/>
                    </a:bodyPr>
                    <a:lstStyle/>
                    <a:p>
                      <a:pPr algn="l"/>
                      <a:r>
                        <a:rPr sz="750" b="1" i="0" spc="46">
                          <a:solidFill>
                            <a:srgbClr val="5E6A6B"/>
                          </a:solidFill>
                          <a:latin typeface="Arial"/>
                        </a:rPr>
                        <a:t>FORECASTS</a:t>
                      </a:r>
                    </a:p>
                  </a:txBody>
                  <a:tcPr marT="76200" marR="101600" marB="76200" marL="101600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76200" rIns="101600" bIns="76200" lIns="101600" anchor="ctr">
                      <a:noAutofit/>
                    </a:bodyPr>
                    <a:lstStyle/>
                    <a:p>
                      <a:pPr algn="l"/>
                      <a:r>
                        <a:rPr sz="750" b="1" i="0" spc="46">
                          <a:solidFill>
                            <a:srgbClr val="5E6A6B"/>
                          </a:solidFill>
                          <a:latin typeface="Arial"/>
                        </a:rPr>
                        <a:t>STRONGEST FORECAST</a:t>
                      </a:r>
                    </a:p>
                  </a:txBody>
                  <a:tcPr marT="76200" marR="101600" marB="76200" marL="101600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76200" rIns="101600" bIns="76200" lIns="101600" anchor="ctr">
                      <a:noAutofit/>
                    </a:bodyPr>
                    <a:lstStyle/>
                    <a:p>
                      <a:pPr algn="l"/>
                      <a:r>
                        <a:rPr sz="750" b="1" i="0" spc="46">
                          <a:solidFill>
                            <a:srgbClr val="5E6A6B"/>
                          </a:solidFill>
                          <a:latin typeface="Arial"/>
                        </a:rPr>
                        <a:t>CLOSEST CENTRE</a:t>
                      </a:r>
                      <a:br/>
                      <a:r>
                        <a:rPr sz="750" b="1" i="0" spc="46">
                          <a:solidFill>
                            <a:srgbClr val="5E6A6B"/>
                          </a:solidFill>
                          <a:latin typeface="Arial"/>
                        </a:rPr>
                        <a:t>TO LAND</a:t>
                      </a:r>
                    </a:p>
                  </a:txBody>
                  <a:tcPr marT="76200" marR="101600" marB="76200" marL="101600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76200" rIns="101600" bIns="76200" lIns="101600" anchor="ctr">
                      <a:noAutofit/>
                    </a:bodyPr>
                    <a:lstStyle/>
                    <a:p>
                      <a:pPr algn="l"/>
                      <a:r>
                        <a:rPr sz="750" b="1" i="0" spc="46">
                          <a:solidFill>
                            <a:srgbClr val="5E6A6B"/>
                          </a:solidFill>
                          <a:latin typeface="Arial"/>
                        </a:rPr>
                        <a:t>MOST PEOPLE IN</a:t>
                      </a:r>
                      <a:br/>
                      <a:r>
                        <a:rPr sz="750" b="1" i="0" spc="46">
                          <a:solidFill>
                            <a:srgbClr val="5E6A6B"/>
                          </a:solidFill>
                          <a:latin typeface="Arial"/>
                        </a:rPr>
                        <a:t>64-KT ZONE</a:t>
                      </a:r>
                    </a:p>
                  </a:txBody>
                  <a:tcPr marT="76200" marR="101600" marB="76200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355732"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Urmil</a:t>
                      </a:r>
                    </a:p>
                  </a:txBody>
                  <a:tcPr marT="84667" marR="101600" marB="84667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4 · 27–28 Feb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ctr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Category 2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ctr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430 km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ctr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499"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Vaianu</a:t>
                      </a:r>
                    </a:p>
                  </a:txBody>
                  <a:tcPr marT="84667" marR="101600" marB="84667" marL="101600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9 · 5–8 Apr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ctr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Category 3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ctr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195 km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101600" bIns="84667" lIns="101600" anchor="ctr">
                      <a:noAutofit/>
                    </a:bodyPr>
                    <a:lstStyle/>
                    <a:p>
                      <a:pPr algn="ctr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T="84667" marR="101600" marB="84667" marL="101600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ote"/>
          <p:cNvSpPr txBox="1"/>
          <p:nvPr/>
        </p:nvSpPr>
        <p:spPr>
          <a:xfrm>
            <a:off x="1100667" y="4257146"/>
            <a:ext cx="9990667" cy="176742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>
              <a:lnSpc>
                <a:spcPts val="1400"/>
              </a:lnSpc>
            </a:pPr>
            <a:r>
              <a:rPr sz="950" b="0" i="0">
                <a:solidFill>
                  <a:srgbClr val="5E6A6B"/>
                </a:solidFill>
                <a:latin typeface="Arial"/>
              </a:rPr>
              <a:t>Threshold: 5,000 people. Times are Fiji time, when the forecast was issued.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365654" y="1498071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CYCLONE URMIL · 27–28 FEBRUARY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365654" y="1701271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Never close</a:t>
            </a:r>
          </a:p>
        </p:txBody>
      </p:sp>
      <p:sp>
        <p:nvSpPr>
          <p:cNvPr id="4" name="rule"/>
          <p:cNvSpPr/>
          <p:nvPr/>
        </p:nvSpPr>
        <p:spPr>
          <a:xfrm>
            <a:off x="365654" y="2098807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de"/>
          <p:cNvSpPr txBox="1"/>
          <p:nvPr/>
        </p:nvSpPr>
        <p:spPr>
          <a:xfrm>
            <a:off x="365654" y="2251207"/>
            <a:ext cx="4367555" cy="658416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All 4 forecasts kept Urmil far to the south-west and south of Fiji, at most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Category 2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— no hurricane-force winds were forecast at all. Its centre stayed at least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430 km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from land.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654" y="3028156"/>
          <a:ext cx="4231878" cy="20278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7865"/>
                <a:gridCol w="2076053"/>
                <a:gridCol w="1037960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FORECAST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491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IMERG satellite, checked daily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note"/>
          <p:cNvSpPr txBox="1"/>
          <p:nvPr/>
        </p:nvSpPr>
        <p:spPr>
          <a:xfrm>
            <a:off x="365654" y="5183055"/>
            <a:ext cx="4240345" cy="176742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1400"/>
              </a:lnSpc>
            </a:pPr>
            <a:r>
              <a:rPr sz="950" b="0" i="0">
                <a:solidFill>
                  <a:srgbClr val="5E6A6B"/>
                </a:solidFill>
                <a:latin typeface="Arial"/>
              </a:rPr>
              <a:t>Map: latest forecast in black, earlier forecasts in grey.</a:t>
            </a:r>
          </a:p>
        </p:txBody>
      </p:sp>
      <p:pic>
        <p:nvPicPr>
          <p:cNvPr id="8" name="picture" descr="Forecast tracks for Cyclone Urmi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618" y="531680"/>
            <a:ext cx="5921243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365654" y="1424914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TROPICAL DISTURBANCE 11F · FORECAST 1 OF 9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365654" y="1628114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Sun 5 Apr, 18:00</a:t>
            </a:r>
          </a:p>
        </p:txBody>
      </p:sp>
      <p:sp>
        <p:nvSpPr>
          <p:cNvPr id="4" name="rule"/>
          <p:cNvSpPr/>
          <p:nvPr/>
        </p:nvSpPr>
        <p:spPr>
          <a:xfrm>
            <a:off x="365654" y="2025650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de"/>
          <p:cNvSpPr txBox="1"/>
          <p:nvPr/>
        </p:nvSpPr>
        <p:spPr>
          <a:xfrm>
            <a:off x="365654" y="2178050"/>
            <a:ext cx="4367555" cy="438944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First forecast, before the system was named: forecast to reach Category 2 west of Fiji, with no hurricane-force winds.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654" y="2735527"/>
          <a:ext cx="4231878" cy="20278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7865"/>
                <a:gridCol w="2076053"/>
                <a:gridCol w="1037960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FORECAST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491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IMERG satellite, checked daily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365654" y="4890426"/>
            <a:ext cx="4240345" cy="542396"/>
            <a:chOff x="365654" y="4890426"/>
            <a:chExt cx="4240345" cy="542396"/>
          </a:xfrm>
        </p:grpSpPr>
        <p:sp>
          <p:nvSpPr>
            <p:cNvPr id="8" name="callout grey"/>
            <p:cNvSpPr/>
            <p:nvPr/>
          </p:nvSpPr>
          <p:spPr>
            <a:xfrm>
              <a:off x="365654" y="4890426"/>
              <a:ext cx="4240345" cy="542396"/>
            </a:xfrm>
            <a:prstGeom prst="rect">
              <a:avLst/>
            </a:prstGeom>
            <a:solidFill>
              <a:srgbClr val="EEF2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84667" rIns="118533" bIns="84667" lIns="152400">
              <a:noAutofit/>
            </a:bodyPr>
            <a:lstStyle/>
            <a:p>
              <a:pPr algn="l">
                <a:lnSpc>
                  <a:spcPts val="1450"/>
                </a:lnSpc>
              </a:pPr>
              <a:r>
                <a:rPr sz="1000" b="1" i="0">
                  <a:solidFill>
                    <a:srgbClr val="1E2A2B"/>
                  </a:solidFill>
                  <a:latin typeface="Arial"/>
                </a:rPr>
                <a:t>How close?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No 64-kt winds forecast. Storm centre 200 km from land at its closest.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65654" y="4890426"/>
              <a:ext cx="33867" cy="542396"/>
            </a:xfrm>
            <a:prstGeom prst="rect">
              <a:avLst/>
            </a:prstGeom>
            <a:solidFill>
              <a:srgbClr val="9AA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" name="picture" descr="Forecast map for Vaianu, Sun 5 Apr, 18: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676" y="531680"/>
            <a:ext cx="5664994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365654" y="1424914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VAIANU · FORECAST 2 OF 9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365654" y="1628114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Mon 6 Apr, 00:00</a:t>
            </a:r>
          </a:p>
        </p:txBody>
      </p:sp>
      <p:sp>
        <p:nvSpPr>
          <p:cNvPr id="4" name="rule"/>
          <p:cNvSpPr/>
          <p:nvPr/>
        </p:nvSpPr>
        <p:spPr>
          <a:xfrm>
            <a:off x="365654" y="2025650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de"/>
          <p:cNvSpPr txBox="1"/>
          <p:nvPr/>
        </p:nvSpPr>
        <p:spPr>
          <a:xfrm>
            <a:off x="365654" y="2178050"/>
            <a:ext cx="4367555" cy="438944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Forecast as a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Category 3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passing west and south of Viti Levu. Its hurricane-force winds stay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215 km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from land.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654" y="2735527"/>
          <a:ext cx="4231878" cy="20278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7865"/>
                <a:gridCol w="2076053"/>
                <a:gridCol w="1037960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FORECAST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491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IMERG satellite, checked daily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365654" y="4890426"/>
            <a:ext cx="4240345" cy="542396"/>
            <a:chOff x="365654" y="4890426"/>
            <a:chExt cx="4240345" cy="542396"/>
          </a:xfrm>
        </p:grpSpPr>
        <p:sp>
          <p:nvSpPr>
            <p:cNvPr id="8" name="callout grey"/>
            <p:cNvSpPr/>
            <p:nvPr/>
          </p:nvSpPr>
          <p:spPr>
            <a:xfrm>
              <a:off x="365654" y="4890426"/>
              <a:ext cx="4240345" cy="542396"/>
            </a:xfrm>
            <a:prstGeom prst="rect">
              <a:avLst/>
            </a:prstGeom>
            <a:solidFill>
              <a:srgbClr val="EEF2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84667" rIns="118533" bIns="84667" lIns="152400">
              <a:noAutofit/>
            </a:bodyPr>
            <a:lstStyle/>
            <a:p>
              <a:pPr algn="l">
                <a:lnSpc>
                  <a:spcPts val="1450"/>
                </a:lnSpc>
              </a:pPr>
              <a:r>
                <a:rPr sz="1000" b="1" i="0">
                  <a:solidFill>
                    <a:srgbClr val="1E2A2B"/>
                  </a:solidFill>
                  <a:latin typeface="Arial"/>
                </a:rPr>
                <a:t>How close?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64-kt winds </a:t>
              </a:r>
              <a:r>
                <a:rPr sz="1000" b="1" i="0">
                  <a:solidFill>
                    <a:srgbClr val="1E2A2B"/>
                  </a:solidFill>
                  <a:latin typeface="Arial"/>
                </a:rPr>
                <a:t>215 km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from land. Storm centre 260 km from land at its closest.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65654" y="4890426"/>
              <a:ext cx="33867" cy="542396"/>
            </a:xfrm>
            <a:prstGeom prst="rect">
              <a:avLst/>
            </a:prstGeom>
            <a:solidFill>
              <a:srgbClr val="9AA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" name="picture" descr="Forecast map for Vaianu, Mon 6 Apr, 00: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676" y="531680"/>
            <a:ext cx="5664994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365654" y="1424914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VAIANU · FORECAST 3 OF 9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365654" y="1628114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Mon 6 Apr, 06:00</a:t>
            </a:r>
          </a:p>
        </p:txBody>
      </p:sp>
      <p:sp>
        <p:nvSpPr>
          <p:cNvPr id="4" name="rule"/>
          <p:cNvSpPr/>
          <p:nvPr/>
        </p:nvSpPr>
        <p:spPr>
          <a:xfrm>
            <a:off x="365654" y="2025650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de"/>
          <p:cNvSpPr txBox="1"/>
          <p:nvPr/>
        </p:nvSpPr>
        <p:spPr>
          <a:xfrm>
            <a:off x="365654" y="2178050"/>
            <a:ext cx="4367555" cy="438944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Forecast as a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Category 3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passing west and south of Viti Levu. Its hurricane-force winds stay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155 km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from land.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654" y="2735527"/>
          <a:ext cx="4231878" cy="20278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7865"/>
                <a:gridCol w="2076053"/>
                <a:gridCol w="1037960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FORECAST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491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IMERG satellite, checked daily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365654" y="4890426"/>
            <a:ext cx="4240345" cy="542396"/>
            <a:chOff x="365654" y="4890426"/>
            <a:chExt cx="4240345" cy="542396"/>
          </a:xfrm>
        </p:grpSpPr>
        <p:sp>
          <p:nvSpPr>
            <p:cNvPr id="8" name="callout grey"/>
            <p:cNvSpPr/>
            <p:nvPr/>
          </p:nvSpPr>
          <p:spPr>
            <a:xfrm>
              <a:off x="365654" y="4890426"/>
              <a:ext cx="4240345" cy="542396"/>
            </a:xfrm>
            <a:prstGeom prst="rect">
              <a:avLst/>
            </a:prstGeom>
            <a:solidFill>
              <a:srgbClr val="EEF2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84667" rIns="118533" bIns="84667" lIns="152400">
              <a:noAutofit/>
            </a:bodyPr>
            <a:lstStyle/>
            <a:p>
              <a:pPr algn="l">
                <a:lnSpc>
                  <a:spcPts val="1450"/>
                </a:lnSpc>
              </a:pPr>
              <a:r>
                <a:rPr sz="1000" b="1" i="0">
                  <a:solidFill>
                    <a:srgbClr val="1E2A2B"/>
                  </a:solidFill>
                  <a:latin typeface="Arial"/>
                </a:rPr>
                <a:t>How close?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64-kt winds </a:t>
              </a:r>
              <a:r>
                <a:rPr sz="1000" b="1" i="0">
                  <a:solidFill>
                    <a:srgbClr val="1E2A2B"/>
                  </a:solidFill>
                  <a:latin typeface="Arial"/>
                </a:rPr>
                <a:t>155 km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from land. Storm centre 200 km from land at its closest.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65654" y="4890426"/>
              <a:ext cx="33867" cy="542396"/>
            </a:xfrm>
            <a:prstGeom prst="rect">
              <a:avLst/>
            </a:prstGeom>
            <a:solidFill>
              <a:srgbClr val="9AA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" name="picture" descr="Forecast map for Vaianu, Mon 6 Apr, 06: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676" y="531680"/>
            <a:ext cx="5664994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365654" y="1424914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VAIANU · FORECAST 4 OF 9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365654" y="1628114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Mon 6 Apr, 12:00</a:t>
            </a:r>
          </a:p>
        </p:txBody>
      </p:sp>
      <p:sp>
        <p:nvSpPr>
          <p:cNvPr id="4" name="rule"/>
          <p:cNvSpPr/>
          <p:nvPr/>
        </p:nvSpPr>
        <p:spPr>
          <a:xfrm>
            <a:off x="365654" y="2025650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de"/>
          <p:cNvSpPr txBox="1"/>
          <p:nvPr/>
        </p:nvSpPr>
        <p:spPr>
          <a:xfrm>
            <a:off x="365654" y="2178050"/>
            <a:ext cx="4367555" cy="438944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Forecast as a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Category 3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passing west and south of Viti Levu. Its hurricane-force winds stay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140 km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from land.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654" y="2735527"/>
          <a:ext cx="4231878" cy="20278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7865"/>
                <a:gridCol w="2076053"/>
                <a:gridCol w="1037960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FORECAST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491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IMERG satellite, checked daily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365654" y="4890426"/>
            <a:ext cx="4240345" cy="542396"/>
            <a:chOff x="365654" y="4890426"/>
            <a:chExt cx="4240345" cy="542396"/>
          </a:xfrm>
        </p:grpSpPr>
        <p:sp>
          <p:nvSpPr>
            <p:cNvPr id="8" name="callout grey"/>
            <p:cNvSpPr/>
            <p:nvPr/>
          </p:nvSpPr>
          <p:spPr>
            <a:xfrm>
              <a:off x="365654" y="4890426"/>
              <a:ext cx="4240345" cy="542396"/>
            </a:xfrm>
            <a:prstGeom prst="rect">
              <a:avLst/>
            </a:prstGeom>
            <a:solidFill>
              <a:srgbClr val="EEF2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84667" rIns="118533" bIns="84667" lIns="152400">
              <a:noAutofit/>
            </a:bodyPr>
            <a:lstStyle/>
            <a:p>
              <a:pPr algn="l">
                <a:lnSpc>
                  <a:spcPts val="1450"/>
                </a:lnSpc>
              </a:pPr>
              <a:r>
                <a:rPr sz="1000" b="1" i="0">
                  <a:solidFill>
                    <a:srgbClr val="1E2A2B"/>
                  </a:solidFill>
                  <a:latin typeface="Arial"/>
                </a:rPr>
                <a:t>How close?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64-kt winds </a:t>
              </a:r>
              <a:r>
                <a:rPr sz="1000" b="1" i="0">
                  <a:solidFill>
                    <a:srgbClr val="1E2A2B"/>
                  </a:solidFill>
                  <a:latin typeface="Arial"/>
                </a:rPr>
                <a:t>140 km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from land. Storm centre 195 km from land at its closest.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65654" y="4890426"/>
              <a:ext cx="33867" cy="542396"/>
            </a:xfrm>
            <a:prstGeom prst="rect">
              <a:avLst/>
            </a:prstGeom>
            <a:solidFill>
              <a:srgbClr val="9AA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" name="picture" descr="Forecast map for Vaianu, Mon 6 Apr, 12: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676" y="531680"/>
            <a:ext cx="5664994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365654" y="1424914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VAIANU · FORECAST 5 OF 9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365654" y="1628114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Mon 6 Apr, 18:00</a:t>
            </a:r>
          </a:p>
        </p:txBody>
      </p:sp>
      <p:sp>
        <p:nvSpPr>
          <p:cNvPr id="4" name="rule"/>
          <p:cNvSpPr/>
          <p:nvPr/>
        </p:nvSpPr>
        <p:spPr>
          <a:xfrm>
            <a:off x="365654" y="2025650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de"/>
          <p:cNvSpPr txBox="1"/>
          <p:nvPr/>
        </p:nvSpPr>
        <p:spPr>
          <a:xfrm>
            <a:off x="365654" y="2178050"/>
            <a:ext cx="4367555" cy="438944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Forecast as a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Category 3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passing west and south of Viti Levu. Its hurricane-force winds stay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155 km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from land.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654" y="2735527"/>
          <a:ext cx="4231878" cy="20278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7865"/>
                <a:gridCol w="2076053"/>
                <a:gridCol w="1037960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FORECAST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491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IMERG satellite, checked daily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365654" y="4890426"/>
            <a:ext cx="4240345" cy="542396"/>
            <a:chOff x="365654" y="4890426"/>
            <a:chExt cx="4240345" cy="542396"/>
          </a:xfrm>
        </p:grpSpPr>
        <p:sp>
          <p:nvSpPr>
            <p:cNvPr id="8" name="callout grey"/>
            <p:cNvSpPr/>
            <p:nvPr/>
          </p:nvSpPr>
          <p:spPr>
            <a:xfrm>
              <a:off x="365654" y="4890426"/>
              <a:ext cx="4240345" cy="542396"/>
            </a:xfrm>
            <a:prstGeom prst="rect">
              <a:avLst/>
            </a:prstGeom>
            <a:solidFill>
              <a:srgbClr val="EEF2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84667" rIns="118533" bIns="84667" lIns="152400">
              <a:noAutofit/>
            </a:bodyPr>
            <a:lstStyle/>
            <a:p>
              <a:pPr algn="l">
                <a:lnSpc>
                  <a:spcPts val="1450"/>
                </a:lnSpc>
              </a:pPr>
              <a:r>
                <a:rPr sz="1000" b="1" i="0">
                  <a:solidFill>
                    <a:srgbClr val="1E2A2B"/>
                  </a:solidFill>
                  <a:latin typeface="Arial"/>
                </a:rPr>
                <a:t>How close?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64-kt winds </a:t>
              </a:r>
              <a:r>
                <a:rPr sz="1000" b="1" i="0">
                  <a:solidFill>
                    <a:srgbClr val="1E2A2B"/>
                  </a:solidFill>
                  <a:latin typeface="Arial"/>
                </a:rPr>
                <a:t>155 km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from land. Storm centre 220 km from land at its closest.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65654" y="4890426"/>
              <a:ext cx="33867" cy="542396"/>
            </a:xfrm>
            <a:prstGeom prst="rect">
              <a:avLst/>
            </a:prstGeom>
            <a:solidFill>
              <a:srgbClr val="9AA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" name="picture" descr="Forecast map for Vaianu, Mon 6 Apr, 18: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676" y="531680"/>
            <a:ext cx="5664994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365654" y="1424914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VAIANU · FORECAST 6 OF 9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365654" y="1628114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Tue 7 Apr, 00:00</a:t>
            </a:r>
          </a:p>
        </p:txBody>
      </p:sp>
      <p:sp>
        <p:nvSpPr>
          <p:cNvPr id="4" name="rule"/>
          <p:cNvSpPr/>
          <p:nvPr/>
        </p:nvSpPr>
        <p:spPr>
          <a:xfrm>
            <a:off x="365654" y="2025650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de"/>
          <p:cNvSpPr txBox="1"/>
          <p:nvPr/>
        </p:nvSpPr>
        <p:spPr>
          <a:xfrm>
            <a:off x="365654" y="2178050"/>
            <a:ext cx="4367555" cy="438944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Forecast as a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Category 3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passing west and south of Viti Levu. Its hurricane-force winds stay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165 km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from land.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654" y="2735527"/>
          <a:ext cx="4231878" cy="20278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7865"/>
                <a:gridCol w="2076053"/>
                <a:gridCol w="1037960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FORECAST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491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IMERG satellite, checked daily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365654" y="4890426"/>
            <a:ext cx="4240345" cy="542396"/>
            <a:chOff x="365654" y="4890426"/>
            <a:chExt cx="4240345" cy="542396"/>
          </a:xfrm>
        </p:grpSpPr>
        <p:sp>
          <p:nvSpPr>
            <p:cNvPr id="8" name="callout grey"/>
            <p:cNvSpPr/>
            <p:nvPr/>
          </p:nvSpPr>
          <p:spPr>
            <a:xfrm>
              <a:off x="365654" y="4890426"/>
              <a:ext cx="4240345" cy="542396"/>
            </a:xfrm>
            <a:prstGeom prst="rect">
              <a:avLst/>
            </a:prstGeom>
            <a:solidFill>
              <a:srgbClr val="EEF2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84667" rIns="118533" bIns="84667" lIns="152400">
              <a:noAutofit/>
            </a:bodyPr>
            <a:lstStyle/>
            <a:p>
              <a:pPr algn="l">
                <a:lnSpc>
                  <a:spcPts val="1450"/>
                </a:lnSpc>
              </a:pPr>
              <a:r>
                <a:rPr sz="1000" b="1" i="0">
                  <a:solidFill>
                    <a:srgbClr val="1E2A2B"/>
                  </a:solidFill>
                  <a:latin typeface="Arial"/>
                </a:rPr>
                <a:t>How close?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64-kt winds </a:t>
              </a:r>
              <a:r>
                <a:rPr sz="1000" b="1" i="0">
                  <a:solidFill>
                    <a:srgbClr val="1E2A2B"/>
                  </a:solidFill>
                  <a:latin typeface="Arial"/>
                </a:rPr>
                <a:t>165 km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from land. Storm centre 230 km from land at its closest.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65654" y="4890426"/>
              <a:ext cx="33867" cy="542396"/>
            </a:xfrm>
            <a:prstGeom prst="rect">
              <a:avLst/>
            </a:prstGeom>
            <a:solidFill>
              <a:srgbClr val="9AA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" name="picture" descr="Forecast map for Vaianu, Tue 7 Apr, 00: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676" y="531680"/>
            <a:ext cx="5664994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365654" y="1424914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VAIANU · FORECAST 7 OF 9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365654" y="1628114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Tue 7 Apr, 06:00</a:t>
            </a:r>
          </a:p>
        </p:txBody>
      </p:sp>
      <p:sp>
        <p:nvSpPr>
          <p:cNvPr id="4" name="rule"/>
          <p:cNvSpPr/>
          <p:nvPr/>
        </p:nvSpPr>
        <p:spPr>
          <a:xfrm>
            <a:off x="365654" y="2025650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de"/>
          <p:cNvSpPr txBox="1"/>
          <p:nvPr/>
        </p:nvSpPr>
        <p:spPr>
          <a:xfrm>
            <a:off x="365654" y="2178050"/>
            <a:ext cx="4367555" cy="438944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Forecast as a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Category 3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passing west and south of Viti Levu. Its hurricane-force winds stay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130 km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from land.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654" y="2735527"/>
          <a:ext cx="4231878" cy="20278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7865"/>
                <a:gridCol w="2076053"/>
                <a:gridCol w="1037960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FORECAST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491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IMERG satellite, checked daily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365654" y="4890426"/>
            <a:ext cx="4240345" cy="542396"/>
            <a:chOff x="365654" y="4890426"/>
            <a:chExt cx="4240345" cy="542396"/>
          </a:xfrm>
        </p:grpSpPr>
        <p:sp>
          <p:nvSpPr>
            <p:cNvPr id="8" name="callout grey"/>
            <p:cNvSpPr/>
            <p:nvPr/>
          </p:nvSpPr>
          <p:spPr>
            <a:xfrm>
              <a:off x="365654" y="4890426"/>
              <a:ext cx="4240345" cy="542396"/>
            </a:xfrm>
            <a:prstGeom prst="rect">
              <a:avLst/>
            </a:prstGeom>
            <a:solidFill>
              <a:srgbClr val="EEF2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84667" rIns="118533" bIns="84667" lIns="152400">
              <a:noAutofit/>
            </a:bodyPr>
            <a:lstStyle/>
            <a:p>
              <a:pPr algn="l">
                <a:lnSpc>
                  <a:spcPts val="1450"/>
                </a:lnSpc>
              </a:pPr>
              <a:r>
                <a:rPr sz="1000" b="1" i="0">
                  <a:solidFill>
                    <a:srgbClr val="1E2A2B"/>
                  </a:solidFill>
                  <a:latin typeface="Arial"/>
                </a:rPr>
                <a:t>How close?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64-kt winds </a:t>
              </a:r>
              <a:r>
                <a:rPr sz="1000" b="1" i="0">
                  <a:solidFill>
                    <a:srgbClr val="1E2A2B"/>
                  </a:solidFill>
                  <a:latin typeface="Arial"/>
                </a:rPr>
                <a:t>130 km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from land. Storm centre 195 km from land at its closest.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65654" y="4890426"/>
              <a:ext cx="33867" cy="542396"/>
            </a:xfrm>
            <a:prstGeom prst="rect">
              <a:avLst/>
            </a:prstGeom>
            <a:solidFill>
              <a:srgbClr val="9AA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" name="picture" descr="Forecast map for Vaianu, Tue 7 Apr, 06: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676" y="531680"/>
            <a:ext cx="5664994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365654" y="1424914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VAIANU · FORECAST 8 OF 9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365654" y="1628114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Tue 7 Apr, 12:00</a:t>
            </a:r>
          </a:p>
        </p:txBody>
      </p:sp>
      <p:sp>
        <p:nvSpPr>
          <p:cNvPr id="4" name="rule"/>
          <p:cNvSpPr/>
          <p:nvPr/>
        </p:nvSpPr>
        <p:spPr>
          <a:xfrm>
            <a:off x="365654" y="2025650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de"/>
          <p:cNvSpPr txBox="1"/>
          <p:nvPr/>
        </p:nvSpPr>
        <p:spPr>
          <a:xfrm>
            <a:off x="365654" y="2178050"/>
            <a:ext cx="4367555" cy="438944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Forecast as a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Category 3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passing west and south of Viti Levu. Its hurricane-force winds stay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190 km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from land.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654" y="2735527"/>
          <a:ext cx="4231878" cy="20278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7865"/>
                <a:gridCol w="2076053"/>
                <a:gridCol w="1037960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FORECAST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491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IMERG satellite, checked daily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365654" y="4890426"/>
            <a:ext cx="4240345" cy="542396"/>
            <a:chOff x="365654" y="4890426"/>
            <a:chExt cx="4240345" cy="542396"/>
          </a:xfrm>
        </p:grpSpPr>
        <p:sp>
          <p:nvSpPr>
            <p:cNvPr id="8" name="callout grey"/>
            <p:cNvSpPr/>
            <p:nvPr/>
          </p:nvSpPr>
          <p:spPr>
            <a:xfrm>
              <a:off x="365654" y="4890426"/>
              <a:ext cx="4240345" cy="542396"/>
            </a:xfrm>
            <a:prstGeom prst="rect">
              <a:avLst/>
            </a:prstGeom>
            <a:solidFill>
              <a:srgbClr val="EEF2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84667" rIns="118533" bIns="84667" lIns="152400">
              <a:noAutofit/>
            </a:bodyPr>
            <a:lstStyle/>
            <a:p>
              <a:pPr algn="l">
                <a:lnSpc>
                  <a:spcPts val="1450"/>
                </a:lnSpc>
              </a:pPr>
              <a:r>
                <a:rPr sz="1000" b="1" i="0">
                  <a:solidFill>
                    <a:srgbClr val="1E2A2B"/>
                  </a:solidFill>
                  <a:latin typeface="Arial"/>
                </a:rPr>
                <a:t>How close?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64-kt winds </a:t>
              </a:r>
              <a:r>
                <a:rPr sz="1000" b="1" i="0">
                  <a:solidFill>
                    <a:srgbClr val="1E2A2B"/>
                  </a:solidFill>
                  <a:latin typeface="Arial"/>
                </a:rPr>
                <a:t>190 km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from land. Storm centre 250 km from land at its closest.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65654" y="4890426"/>
              <a:ext cx="33867" cy="542396"/>
            </a:xfrm>
            <a:prstGeom prst="rect">
              <a:avLst/>
            </a:prstGeom>
            <a:solidFill>
              <a:srgbClr val="9AA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" name="picture" descr="Forecast map for Vaianu, Tue 7 Apr, 12: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676" y="531680"/>
            <a:ext cx="5664994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365654" y="1424914"/>
            <a:ext cx="4240345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/>
            <a:r>
              <a:rPr sz="850" b="1" i="0" spc="116">
                <a:solidFill>
                  <a:srgbClr val="1862D8"/>
                </a:solidFill>
                <a:latin typeface="Arial"/>
              </a:rPr>
              <a:t>VAIANU · FORECAST 9 OF 9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365654" y="1628114"/>
            <a:ext cx="4240345" cy="31287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l">
              <a:lnSpc>
                <a:spcPts val="2450"/>
              </a:lnSpc>
            </a:pPr>
            <a:r>
              <a:rPr sz="2250" b="1" i="0">
                <a:solidFill>
                  <a:srgbClr val="1E2A2B"/>
                </a:solidFill>
                <a:latin typeface="Arial"/>
              </a:rPr>
              <a:t>Wed 8 Apr, 06:00</a:t>
            </a:r>
          </a:p>
        </p:txBody>
      </p:sp>
      <p:sp>
        <p:nvSpPr>
          <p:cNvPr id="4" name="rule"/>
          <p:cNvSpPr/>
          <p:nvPr/>
        </p:nvSpPr>
        <p:spPr>
          <a:xfrm>
            <a:off x="365654" y="2025650"/>
            <a:ext cx="2968228" cy="33867"/>
          </a:xfrm>
          <a:prstGeom prst="roundRect">
            <a:avLst>
              <a:gd name="adj" fmla="val 50000"/>
            </a:avLst>
          </a:prstGeom>
          <a:solidFill>
            <a:srgbClr val="1862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de"/>
          <p:cNvSpPr txBox="1"/>
          <p:nvPr/>
        </p:nvSpPr>
        <p:spPr>
          <a:xfrm>
            <a:off x="365654" y="2178050"/>
            <a:ext cx="4367555" cy="438944"/>
          </a:xfrm>
          <a:prstGeom prst="rect">
            <a:avLst/>
          </a:prstGeom>
          <a:noFill/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150" b="0" i="0">
                <a:solidFill>
                  <a:srgbClr val="1E2A2B"/>
                </a:solidFill>
                <a:latin typeface="Arial"/>
              </a:rPr>
              <a:t>Forecast as a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Category 3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passing west and south of Viti Levu. Its hurricane-force winds stay </a:t>
            </a:r>
            <a:r>
              <a:rPr sz="1150" b="1" i="0">
                <a:solidFill>
                  <a:srgbClr val="1E2A2B"/>
                </a:solidFill>
                <a:latin typeface="Arial"/>
              </a:rPr>
              <a:t>220 km</a:t>
            </a:r>
            <a:r>
              <a:rPr sz="1150" b="0" i="0">
                <a:solidFill>
                  <a:srgbClr val="1E2A2B"/>
                </a:solidFill>
                <a:latin typeface="Arial"/>
              </a:rPr>
              <a:t> from land.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654" y="2735527"/>
          <a:ext cx="4231878" cy="20278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7865"/>
                <a:gridCol w="2076053"/>
                <a:gridCol w="1037960"/>
              </a:tblGrid>
              <a:tr h="249767"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TRIGGER</a:t>
                      </a:r>
                    </a:p>
                  </a:txBody>
                  <a:tcPr marT="67733" marR="84667" marB="67733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THIS FORECAST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0">
                      <a:noFill/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none" tIns="67733" rIns="84667" bIns="67733" lIns="84667" anchor="ctr">
                      <a:noAutofit/>
                    </a:bodyPr>
                    <a:lstStyle/>
                    <a:p>
                      <a:pPr algn="l"/>
                      <a:r>
                        <a:rPr sz="750" b="1" i="0" spc="45">
                          <a:solidFill>
                            <a:srgbClr val="5E6A6B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67733" marR="84667" marB="67733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8467">
                      <a:solidFill>
                        <a:srgbClr val="DDE5E8"/>
                      </a:solidFill>
                    </a:lnT>
                    <a:lnB w="16933">
                      <a:solidFill>
                        <a:srgbClr val="DDE5E8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6491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Readiness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120-hour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4922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Action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72-hour forecast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0</a:t>
                      </a:r>
                      <a:r>
                        <a:rPr sz="1000" b="0" i="0">
                          <a:solidFill>
                            <a:srgbClr val="1E2A2B"/>
                          </a:solidFill>
                          <a:latin typeface="Arial"/>
                        </a:rPr>
                        <a:t> people in 64-kt zone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threshold 5,000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Not reached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055"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1" i="0">
                          <a:solidFill>
                            <a:srgbClr val="1E2A2B"/>
                          </a:solidFill>
                          <a:latin typeface="Arial"/>
                        </a:rPr>
                        <a:t>Observational</a:t>
                      </a:r>
                    </a:p>
                    <a:p>
                      <a:pPr algn="l">
                        <a:lnSpc>
                          <a:spcPts val="1100"/>
                        </a:lnSpc>
                      </a:pPr>
                      <a:r>
                        <a:rPr sz="850" b="0" i="0">
                          <a:solidFill>
                            <a:srgbClr val="5E6A6B"/>
                          </a:solidFill>
                          <a:latin typeface="Arial"/>
                        </a:rPr>
                        <a:t>2-day rainfall</a:t>
                      </a:r>
                    </a:p>
                  </a:txBody>
                  <a:tcPr marT="84667" marR="84667" marB="84667" marL="84667" anchor="ctr">
                    <a:lnL w="8467">
                      <a:solidFill>
                        <a:srgbClr val="DDE5E8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1000" b="0" i="0">
                          <a:solidFill>
                            <a:srgbClr val="5E6A6B"/>
                          </a:solidFill>
                          <a:latin typeface="Arial"/>
                        </a:rPr>
                        <a:t>IMERG satellite, checked daily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tIns="84667" rIns="84667" bIns="84667" lIns="84667" anchor="ctr">
                      <a:noAutofit/>
                    </a:bodyPr>
                    <a:lstStyle/>
                    <a:p>
                      <a:pPr algn="l">
                        <a:lnSpc>
                          <a:spcPts val="1350"/>
                        </a:lnSpc>
                      </a:pPr>
                      <a:r>
                        <a:rPr sz="800" b="1" i="0" spc="32">
                          <a:solidFill>
                            <a:srgbClr val="5E6A6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84667" marR="84667" marB="84667" marL="84667" anchor="ctr">
                    <a:lnL w="0">
                      <a:noFill/>
                    </a:lnL>
                    <a:lnR w="8467">
                      <a:solidFill>
                        <a:srgbClr val="DDE5E8"/>
                      </a:solidFill>
                    </a:lnR>
                    <a:lnT w="0">
                      <a:noFill/>
                    </a:lnT>
                    <a:lnB w="8467">
                      <a:solidFill>
                        <a:srgbClr val="DD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365654" y="4890426"/>
            <a:ext cx="4240345" cy="542396"/>
            <a:chOff x="365654" y="4890426"/>
            <a:chExt cx="4240345" cy="542396"/>
          </a:xfrm>
        </p:grpSpPr>
        <p:sp>
          <p:nvSpPr>
            <p:cNvPr id="8" name="callout grey"/>
            <p:cNvSpPr/>
            <p:nvPr/>
          </p:nvSpPr>
          <p:spPr>
            <a:xfrm>
              <a:off x="365654" y="4890426"/>
              <a:ext cx="4240345" cy="542396"/>
            </a:xfrm>
            <a:prstGeom prst="rect">
              <a:avLst/>
            </a:prstGeom>
            <a:solidFill>
              <a:srgbClr val="EEF2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84667" rIns="118533" bIns="84667" lIns="152400">
              <a:noAutofit/>
            </a:bodyPr>
            <a:lstStyle/>
            <a:p>
              <a:pPr algn="l">
                <a:lnSpc>
                  <a:spcPts val="1450"/>
                </a:lnSpc>
              </a:pPr>
              <a:r>
                <a:rPr sz="1000" b="1" i="0">
                  <a:solidFill>
                    <a:srgbClr val="1E2A2B"/>
                  </a:solidFill>
                  <a:latin typeface="Arial"/>
                </a:rPr>
                <a:t>How close?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64-kt winds </a:t>
              </a:r>
              <a:r>
                <a:rPr sz="1000" b="1" i="0">
                  <a:solidFill>
                    <a:srgbClr val="1E2A2B"/>
                  </a:solidFill>
                  <a:latin typeface="Arial"/>
                </a:rPr>
                <a:t>220 km</a:t>
              </a:r>
              <a:r>
                <a:rPr sz="1000" b="0" i="0">
                  <a:solidFill>
                    <a:srgbClr val="1E2A2B"/>
                  </a:solidFill>
                  <a:latin typeface="Arial"/>
                </a:rPr>
                <a:t> from land. Storm centre 275 km from land at its closest.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65654" y="4890426"/>
              <a:ext cx="33867" cy="542396"/>
            </a:xfrm>
            <a:prstGeom prst="rect">
              <a:avLst/>
            </a:prstGeom>
            <a:solidFill>
              <a:srgbClr val="9AA6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" name="picture" descr="Forecast map for Vaianu, Wed 8 Apr, 06: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676" y="531680"/>
            <a:ext cx="5664994" cy="576064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1100667" y="1014280"/>
            <a:ext cx="9990667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/>
            <a:r>
              <a:rPr sz="850" b="1" i="0" spc="116">
                <a:solidFill>
                  <a:srgbClr val="1862D8"/>
                </a:solidFill>
                <a:latin typeface="Arial"/>
              </a:rPr>
              <a:t>VAIANU · OBSERVATIONAL TRIGGER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100667" y="1217480"/>
            <a:ext cx="9990667" cy="308901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>
              <a:lnSpc>
                <a:spcPts val="2450"/>
              </a:lnSpc>
            </a:pPr>
            <a:r>
              <a:rPr sz="2050" b="1" i="0">
                <a:solidFill>
                  <a:srgbClr val="1E2A2B"/>
                </a:solidFill>
                <a:latin typeface="Arial"/>
              </a:rPr>
              <a:t>Heavy rain in western Viti Levu — but far below the threshold</a:t>
            </a:r>
          </a:p>
        </p:txBody>
      </p:sp>
      <p:pic>
        <p:nvPicPr>
          <p:cNvPr id="4" name="picture" descr="Observed 2-day rainfall, 6–7 Ap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667" y="1644915"/>
            <a:ext cx="4944533" cy="366633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  <p:sp>
        <p:nvSpPr>
          <p:cNvPr id="5" name="figcaption"/>
          <p:cNvSpPr txBox="1"/>
          <p:nvPr/>
        </p:nvSpPr>
        <p:spPr>
          <a:xfrm>
            <a:off x="1100667" y="5395912"/>
            <a:ext cx="4944533" cy="15240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/>
            <a:r>
              <a:rPr sz="1050" b="1" i="0">
                <a:solidFill>
                  <a:srgbClr val="1E2A2B"/>
                </a:solidFill>
                <a:latin typeface="Arial"/>
              </a:rPr>
              <a:t>6–7 Apr: 72 mm</a:t>
            </a:r>
            <a:r>
              <a:rPr sz="1050" b="0" i="0">
                <a:solidFill>
                  <a:srgbClr val="1E2A2B"/>
                </a:solidFill>
                <a:latin typeface="Arial"/>
              </a:rPr>
              <a:t> country average (threshold 190 mm)</a:t>
            </a:r>
          </a:p>
        </p:txBody>
      </p:sp>
      <p:pic>
        <p:nvPicPr>
          <p:cNvPr id="6" name="picture" descr="Observed 2-day rainfall, 7–8 Ap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800" y="1644915"/>
            <a:ext cx="4944533" cy="3666331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  <p:sp>
        <p:nvSpPr>
          <p:cNvPr id="7" name="figcaption"/>
          <p:cNvSpPr txBox="1"/>
          <p:nvPr/>
        </p:nvSpPr>
        <p:spPr>
          <a:xfrm>
            <a:off x="6146800" y="5395912"/>
            <a:ext cx="4944533" cy="152400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/>
            <a:r>
              <a:rPr sz="1050" b="1" i="0">
                <a:solidFill>
                  <a:srgbClr val="1E2A2B"/>
                </a:solidFill>
                <a:latin typeface="Arial"/>
              </a:rPr>
              <a:t>7–8 Apr: 42 mm</a:t>
            </a:r>
            <a:r>
              <a:rPr sz="1050" b="0" i="0">
                <a:solidFill>
                  <a:srgbClr val="1E2A2B"/>
                </a:solidFill>
                <a:latin typeface="Arial"/>
              </a:rPr>
              <a:t> country average (threshold 190 mm)</a:t>
            </a:r>
          </a:p>
        </p:txBody>
      </p:sp>
      <p:sp>
        <p:nvSpPr>
          <p:cNvPr id="8" name="note"/>
          <p:cNvSpPr txBox="1"/>
          <p:nvPr/>
        </p:nvSpPr>
        <p:spPr>
          <a:xfrm>
            <a:off x="1100667" y="5666846"/>
            <a:ext cx="9990667" cy="176742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>
              <a:lnSpc>
                <a:spcPts val="1400"/>
              </a:lnSpc>
            </a:pPr>
            <a:r>
              <a:rPr sz="950" b="0" i="0">
                <a:solidFill>
                  <a:srgbClr val="5E6A6B"/>
                </a:solidFill>
                <a:latin typeface="Arial"/>
              </a:rPr>
              <a:t>NASA IMERG satellite rainfall, as sent in the observational information emails on 7 and 8 April.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1100667" y="629311"/>
            <a:ext cx="9990667" cy="118533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/>
            <a:r>
              <a:rPr sz="850" b="1" i="0" spc="116">
                <a:solidFill>
                  <a:srgbClr val="1862D8"/>
                </a:solidFill>
                <a:latin typeface="Arial"/>
              </a:rPr>
              <a:t>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100667" y="832511"/>
            <a:ext cx="9990667" cy="308901"/>
          </a:xfrm>
          <a:prstGeom prst="rect">
            <a:avLst/>
          </a:prstGeom>
          <a:noFill/>
        </p:spPr>
        <p:txBody>
          <a:bodyPr wrap="none" tIns="0" rIns="0" bIns="0" lIns="0" anchor="t">
            <a:noAutofit/>
          </a:bodyPr>
          <a:lstStyle/>
          <a:p>
            <a:pPr algn="ctr">
              <a:lnSpc>
                <a:spcPts val="2450"/>
              </a:lnSpc>
            </a:pPr>
            <a:r>
              <a:rPr sz="2050" b="1" i="0">
                <a:solidFill>
                  <a:srgbClr val="1E2A2B"/>
                </a:solidFill>
                <a:latin typeface="Arial"/>
              </a:rPr>
              <a:t>Vaianu came closest — and it was not close</a:t>
            </a:r>
          </a:p>
        </p:txBody>
      </p:sp>
      <p:pic>
        <p:nvPicPr>
          <p:cNvPr id="4" name="picture" descr="Distance of Vaianu's forecast 64-kt winds from land, by foreca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333" y="1259946"/>
            <a:ext cx="7281333" cy="2922588"/>
          </a:xfrm>
          <a:prstGeom prst="rect">
            <a:avLst/>
          </a:prstGeom>
          <a:ln w="8467">
            <a:solidFill>
              <a:srgbClr val="DDE5E8"/>
            </a:solidFill>
          </a:ln>
        </p:spPr>
      </p:pic>
      <p:sp>
        <p:nvSpPr>
          <p:cNvPr id="5" name="LI"/>
          <p:cNvSpPr/>
          <p:nvPr/>
        </p:nvSpPr>
        <p:spPr>
          <a:xfrm>
            <a:off x="2624667" y="4318000"/>
            <a:ext cx="6942667" cy="618596"/>
          </a:xfrm>
          <a:prstGeom prst="roundRect">
            <a:avLst>
              <a:gd name="adj" fmla="val 16424"/>
            </a:avLst>
          </a:prstGeom>
          <a:solidFill>
            <a:srgbClr val="FFFFFF"/>
          </a:solidFill>
          <a:ln w="8467">
            <a:solidFill>
              <a:srgbClr val="DD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10067" rIns="143933" bIns="110067" lIns="143933">
            <a:noAutofit/>
          </a:bodyPr>
          <a:lstStyle/>
          <a:p>
            <a:pPr algn="l">
              <a:lnSpc>
                <a:spcPts val="1550"/>
              </a:lnSpc>
            </a:pPr>
            <a:r>
              <a:rPr sz="1050" b="0" i="0">
                <a:solidFill>
                  <a:srgbClr val="1E2A2B"/>
                </a:solidFill>
                <a:latin typeface="Arial"/>
              </a:rPr>
              <a:t>Every one of the 13 forecasts had </a:t>
            </a:r>
            <a:r>
              <a:rPr sz="1050" b="1" i="0">
                <a:solidFill>
                  <a:srgbClr val="1E2A2B"/>
                </a:solidFill>
                <a:latin typeface="Arial"/>
              </a:rPr>
              <a:t>0 people</a:t>
            </a:r>
            <a:r>
              <a:rPr sz="1050" b="0" i="0">
                <a:solidFill>
                  <a:srgbClr val="1E2A2B"/>
                </a:solidFill>
                <a:latin typeface="Arial"/>
              </a:rPr>
              <a:t> in the 64-kt zone (threshold 5,000). Vaianu's hurricane-force winds stayed </a:t>
            </a:r>
            <a:r>
              <a:rPr sz="1050" b="1" i="0">
                <a:solidFill>
                  <a:srgbClr val="1E2A2B"/>
                </a:solidFill>
                <a:latin typeface="Arial"/>
              </a:rPr>
              <a:t>130 km or more</a:t>
            </a:r>
            <a:r>
              <a:rPr sz="1050" b="0" i="0">
                <a:solidFill>
                  <a:srgbClr val="1E2A2B"/>
                </a:solidFill>
                <a:latin typeface="Arial"/>
              </a:rPr>
              <a:t> offshore.</a:t>
            </a:r>
          </a:p>
        </p:txBody>
      </p:sp>
      <p:sp>
        <p:nvSpPr>
          <p:cNvPr id="6" name="LI"/>
          <p:cNvSpPr/>
          <p:nvPr/>
        </p:nvSpPr>
        <p:spPr>
          <a:xfrm>
            <a:off x="2624667" y="5021262"/>
            <a:ext cx="6942667" cy="618596"/>
          </a:xfrm>
          <a:prstGeom prst="roundRect">
            <a:avLst>
              <a:gd name="adj" fmla="val 16424"/>
            </a:avLst>
          </a:prstGeom>
          <a:solidFill>
            <a:srgbClr val="FFFFFF"/>
          </a:solidFill>
          <a:ln w="8467">
            <a:solidFill>
              <a:srgbClr val="DD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10067" rIns="143933" bIns="110067" lIns="143933">
            <a:noAutofit/>
          </a:bodyPr>
          <a:lstStyle/>
          <a:p>
            <a:pPr algn="l">
              <a:lnSpc>
                <a:spcPts val="1550"/>
              </a:lnSpc>
            </a:pPr>
            <a:r>
              <a:rPr sz="1050" b="0" i="0">
                <a:solidFill>
                  <a:srgbClr val="1E2A2B"/>
                </a:solidFill>
                <a:latin typeface="Arial"/>
              </a:rPr>
              <a:t>Only the uncertainty cone's worst case reached populated areas, on 6–7 April. The trigger uses the forecast track itself, so this alone does not activate.</a:t>
            </a:r>
          </a:p>
        </p:txBody>
      </p:sp>
      <p:sp>
        <p:nvSpPr>
          <p:cNvPr id="7" name="LI"/>
          <p:cNvSpPr/>
          <p:nvPr/>
        </p:nvSpPr>
        <p:spPr>
          <a:xfrm>
            <a:off x="2624667" y="5724525"/>
            <a:ext cx="6942667" cy="419365"/>
          </a:xfrm>
          <a:prstGeom prst="roundRect">
            <a:avLst>
              <a:gd name="adj" fmla="val 24227"/>
            </a:avLst>
          </a:prstGeom>
          <a:solidFill>
            <a:srgbClr val="FFFFFF"/>
          </a:solidFill>
          <a:ln w="8467">
            <a:solidFill>
              <a:srgbClr val="DD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10067" rIns="143933" bIns="110067" lIns="143933">
            <a:noAutofit/>
          </a:bodyPr>
          <a:lstStyle/>
          <a:p>
            <a:pPr algn="l">
              <a:lnSpc>
                <a:spcPts val="1550"/>
              </a:lnSpc>
            </a:pPr>
            <a:r>
              <a:rPr sz="1050" b="0" i="0">
                <a:solidFill>
                  <a:srgbClr val="1E2A2B"/>
                </a:solidFill>
                <a:latin typeface="Arial"/>
              </a:rPr>
              <a:t>Rainfall peaked at </a:t>
            </a:r>
            <a:r>
              <a:rPr sz="1050" b="1" i="0">
                <a:solidFill>
                  <a:srgbClr val="1E2A2B"/>
                </a:solidFill>
                <a:latin typeface="Arial"/>
              </a:rPr>
              <a:t>72 mm</a:t>
            </a:r>
            <a:r>
              <a:rPr sz="1050" b="0" i="0">
                <a:solidFill>
                  <a:srgbClr val="1E2A2B"/>
                </a:solidFill>
                <a:latin typeface="Arial"/>
              </a:rPr>
              <a:t> (2-day country average), against 190 mm.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Fiji AA 2025–26 season look-back</dc:title>
  <dc:subject/>
  <dc:creator>OCHA Centre for Humanitarian Data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