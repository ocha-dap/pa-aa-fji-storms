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1100667" y="2020358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ANTICIPATORY ACTION · TROPICAL CYCLONES · FIJI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100667" y="2223558"/>
            <a:ext cx="9990667" cy="87233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3450"/>
              </a:lnSpc>
            </a:pPr>
            <a:r>
              <a:rPr sz="3000" b="1" i="0">
                <a:solidFill>
                  <a:srgbClr val="1E2A2B"/>
                </a:solidFill>
                <a:latin typeface="Arial"/>
              </a:rPr>
              <a:t>Simulation exercise:</a:t>
            </a:r>
            <a:br/>
            <a:r>
              <a:rPr sz="3000" b="1" i="0">
                <a:solidFill>
                  <a:srgbClr val="1E2A2B"/>
                </a:solidFill>
                <a:latin typeface="Arial"/>
              </a:rPr>
              <a:t>three cyclones that never happened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2346113" y="3248290"/>
            <a:ext cx="7499773" cy="487627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900"/>
              </a:lnSpc>
            </a:pPr>
            <a:r>
              <a:rPr sz="1300" b="0" i="0">
                <a:solidFill>
                  <a:srgbClr val="1E2A2B"/>
                </a:solidFill>
                <a:latin typeface="Arial"/>
              </a:rPr>
              <a:t>We follow three fictional storms forecast by forecast, the way the monitoring system would see them, and stop at each step to see which triggers activate.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048000" y="3922183"/>
            <a:ext cx="6096000" cy="915458"/>
            <a:chOff x="3048000" y="3922183"/>
            <a:chExt cx="6096000" cy="915458"/>
          </a:xfrm>
        </p:grpSpPr>
        <p:sp>
          <p:nvSpPr>
            <p:cNvPr id="6" name="callout grey"/>
            <p:cNvSpPr/>
            <p:nvPr/>
          </p:nvSpPr>
          <p:spPr>
            <a:xfrm>
              <a:off x="3048000" y="3922183"/>
              <a:ext cx="6096000" cy="915458"/>
            </a:xfrm>
            <a:prstGeom prst="rect">
              <a:avLst/>
            </a:prstGeom>
            <a:solidFill>
              <a:srgbClr val="EEF2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0" i="0">
                  <a:solidFill>
                    <a:srgbClr val="1E2A2B"/>
                  </a:solidFill>
                  <a:latin typeface="Arial"/>
                </a:rPr>
                <a:t>⚠️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Exercise only.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Cyclones Alpha, Bravo and Charlie are invented. Their forecasts are written in RSMC Nadi's format and checked with the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same code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that monitors real forecasts, so every wind-exposure number shown is what the system would compute. Rainfall fields are invented for the exercise, and the emails are mock-ups. Times are Fiji time, counted from Day 1.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0" y="3922183"/>
              <a:ext cx="33867" cy="915458"/>
            </a:xfrm>
            <a:prstGeom prst="rect">
              <a:avLst/>
            </a:prstGeom>
            <a:solidFill>
              <a:srgbClr val="9AA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1100667" y="2107274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REMINDER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100667" y="2310474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Three ways the framework can activate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76400" y="2737908"/>
            <a:ext cx="2878667" cy="1540801"/>
            <a:chOff x="1676400" y="2737908"/>
            <a:chExt cx="2878667" cy="1540801"/>
          </a:xfrm>
        </p:grpSpPr>
        <p:sp>
          <p:nvSpPr>
            <p:cNvPr id="5" name="cond or"/>
            <p:cNvSpPr/>
            <p:nvPr/>
          </p:nvSpPr>
          <p:spPr>
            <a:xfrm>
              <a:off x="1676400" y="2737908"/>
              <a:ext cx="2878667" cy="154080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8467">
              <a:solidFill>
                <a:srgbClr val="DD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194733" rIns="143933" bIns="160867" lIns="143933">
              <a:noAutofit/>
            </a:bodyPr>
            <a:lstStyle/>
            <a:p>
              <a:pPr algn="ctr">
                <a:spcAft>
                  <a:spcPts val="530"/>
                </a:spcAft>
              </a:pPr>
              <a:r>
                <a:rPr sz="2150" b="0" i="0">
                  <a:solidFill>
                    <a:srgbClr val="1E2A2B"/>
                  </a:solidFill>
                  <a:latin typeface="Arial"/>
                </a:rPr>
                <a:t>🌀</a:t>
              </a:r>
            </a:p>
            <a:p>
              <a:pPr algn="ctr">
                <a:spcAft>
                  <a:spcPts val="400"/>
                </a:spcAft>
              </a:pPr>
              <a:r>
                <a:rPr sz="1100" b="1" i="0">
                  <a:solidFill>
                    <a:srgbClr val="1E2A2B"/>
                  </a:solidFill>
                  <a:latin typeface="Arial"/>
                </a:rPr>
                <a:t>Readiness</a:t>
              </a:r>
            </a:p>
            <a:p>
              <a:pPr algn="ctr">
                <a:lnSpc>
                  <a:spcPts val="140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≥ 5,000 people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in the zone forecast to get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64-kt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(hurricane-force) winds, anywhere in the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120-hour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forecast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676400" y="2737908"/>
              <a:ext cx="2878667" cy="42333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656667" y="2737908"/>
            <a:ext cx="2878667" cy="1540801"/>
            <a:chOff x="4656667" y="2737908"/>
            <a:chExt cx="2878667" cy="1540801"/>
          </a:xfrm>
        </p:grpSpPr>
        <p:sp>
          <p:nvSpPr>
            <p:cNvPr id="8" name="cond rd"/>
            <p:cNvSpPr/>
            <p:nvPr/>
          </p:nvSpPr>
          <p:spPr>
            <a:xfrm>
              <a:off x="4656667" y="2737908"/>
              <a:ext cx="2878667" cy="154080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8467">
              <a:solidFill>
                <a:srgbClr val="DD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194733" rIns="143933" bIns="160867" lIns="143933">
              <a:noAutofit/>
            </a:bodyPr>
            <a:lstStyle/>
            <a:p>
              <a:pPr algn="ctr">
                <a:spcAft>
                  <a:spcPts val="530"/>
                </a:spcAft>
              </a:pPr>
              <a:r>
                <a:rPr sz="2150" b="0" i="0">
                  <a:solidFill>
                    <a:srgbClr val="1E2A2B"/>
                  </a:solidFill>
                  <a:latin typeface="Arial"/>
                </a:rPr>
                <a:t>🌀</a:t>
              </a:r>
            </a:p>
            <a:p>
              <a:pPr algn="ctr">
                <a:spcAft>
                  <a:spcPts val="400"/>
                </a:spcAft>
              </a:pPr>
              <a:r>
                <a:rPr sz="1100" b="1" i="0">
                  <a:solidFill>
                    <a:srgbClr val="1E2A2B"/>
                  </a:solidFill>
                  <a:latin typeface="Arial"/>
                </a:rPr>
                <a:t>Action</a:t>
              </a:r>
            </a:p>
            <a:p>
              <a:pPr algn="ctr">
                <a:lnSpc>
                  <a:spcPts val="1400"/>
                </a:lnSpc>
              </a:pPr>
              <a:r>
                <a:rPr sz="1000" b="0" i="0">
                  <a:solidFill>
                    <a:srgbClr val="5E6A6B"/>
                  </a:solidFill>
                  <a:latin typeface="Arial"/>
                </a:rPr>
                <a:t>The same, but within the first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72 hours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of the forecast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56667" y="2737908"/>
              <a:ext cx="2878667" cy="42333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36933" y="2737908"/>
            <a:ext cx="2878667" cy="1540801"/>
            <a:chOff x="7636933" y="2737908"/>
            <a:chExt cx="2878667" cy="1540801"/>
          </a:xfrm>
        </p:grpSpPr>
        <p:sp>
          <p:nvSpPr>
            <p:cNvPr id="11" name="cond pu"/>
            <p:cNvSpPr/>
            <p:nvPr/>
          </p:nvSpPr>
          <p:spPr>
            <a:xfrm>
              <a:off x="7636933" y="2737908"/>
              <a:ext cx="2878667" cy="154080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8467">
              <a:solidFill>
                <a:srgbClr val="DD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194733" rIns="143933" bIns="160867" lIns="143933">
              <a:noAutofit/>
            </a:bodyPr>
            <a:lstStyle/>
            <a:p>
              <a:pPr algn="ctr">
                <a:spcAft>
                  <a:spcPts val="530"/>
                </a:spcAft>
              </a:pPr>
              <a:r>
                <a:rPr sz="2150" b="0" i="0">
                  <a:solidFill>
                    <a:srgbClr val="1E2A2B"/>
                  </a:solidFill>
                  <a:latin typeface="Arial"/>
                </a:rPr>
                <a:t>🌧️</a:t>
              </a:r>
            </a:p>
            <a:p>
              <a:pPr algn="ctr">
                <a:spcAft>
                  <a:spcPts val="400"/>
                </a:spcAft>
              </a:pPr>
              <a:r>
                <a:rPr sz="1100" b="1" i="0">
                  <a:solidFill>
                    <a:srgbClr val="1E2A2B"/>
                  </a:solidFill>
                  <a:latin typeface="Arial"/>
                </a:rPr>
                <a:t>Observational</a:t>
              </a:r>
            </a:p>
            <a:p>
              <a:pPr algn="ctr">
                <a:lnSpc>
                  <a:spcPts val="140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≥ 190 mm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of rain over two days, averaged over the whole country (NASA IMERG), while the storm is within 250 km of Fiji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36933" y="2737908"/>
              <a:ext cx="2878667" cy="42333"/>
            </a:xfrm>
            <a:prstGeom prst="rect">
              <a:avLst/>
            </a:prstGeom>
            <a:solidFill>
              <a:srgbClr val="6A3D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note"/>
          <p:cNvSpPr txBox="1"/>
          <p:nvPr/>
        </p:nvSpPr>
        <p:spPr>
          <a:xfrm>
            <a:off x="950807" y="4397243"/>
            <a:ext cx="10290387" cy="35348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Every RSMC Nadi forecast is checked automatically as soon as it arrives; rainfall is checked once a day. 64 knots (118 km/h) is the minimum for a Category 3 cyclone. Because the 72-hour forecast is part of the 120-hour forecast, action can only activate together with, or after, readiness.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165093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HOW TO READ THE SLIDES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368293"/>
            <a:ext cx="4240345" cy="24381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900"/>
              </a:lnSpc>
            </a:pPr>
            <a:r>
              <a:rPr sz="1600" b="1" i="0">
                <a:solidFill>
                  <a:srgbClr val="1E2A2B"/>
                </a:solidFill>
                <a:latin typeface="Arial"/>
              </a:rPr>
              <a:t>Each slide is one forecast</a:t>
            </a:r>
          </a:p>
        </p:txBody>
      </p:sp>
      <p:sp>
        <p:nvSpPr>
          <p:cNvPr id="4" name="ul"/>
          <p:cNvSpPr txBox="1"/>
          <p:nvPr/>
        </p:nvSpPr>
        <p:spPr>
          <a:xfrm>
            <a:off x="365654" y="1730640"/>
            <a:ext cx="4367555" cy="2316162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 marL="152400" indent="-152400">
              <a:lnSpc>
                <a:spcPts val="1500"/>
              </a:lnSpc>
              <a:buChar char="•"/>
            </a:pPr>
            <a:r>
              <a:rPr sz="1000" b="1" i="0">
                <a:solidFill>
                  <a:srgbClr val="C62828"/>
                </a:solidFill>
                <a:latin typeface="Arial"/>
              </a:rPr>
              <a:t>Red</a:t>
            </a:r>
            <a:r>
              <a:rPr sz="1000" b="0" i="0">
                <a:solidFill>
                  <a:srgbClr val="1E2A2B"/>
                </a:solidFill>
                <a:latin typeface="Arial"/>
              </a:rPr>
              <a:t>: 64-kt winds in the next 72 hours — counts for </a:t>
            </a:r>
            <a:r>
              <a:rPr sz="1000" b="1" i="0">
                <a:solidFill>
                  <a:srgbClr val="1E2A2B"/>
                </a:solidFill>
                <a:latin typeface="Arial"/>
              </a:rPr>
              <a:t>action</a:t>
            </a:r>
            <a:r>
              <a:rPr sz="1000" b="0" i="0">
                <a:solidFill>
                  <a:srgbClr val="1E2A2B"/>
                </a:solidFill>
                <a:latin typeface="Arial"/>
              </a:rPr>
              <a:t> (and readiness).</a:t>
            </a:r>
          </a:p>
          <a:p>
            <a:pPr algn="l" marL="152400" indent="-152400">
              <a:lnSpc>
                <a:spcPts val="1500"/>
              </a:lnSpc>
              <a:buChar char="•"/>
            </a:pPr>
            <a:r>
              <a:rPr sz="1000" b="1" i="0">
                <a:solidFill>
                  <a:srgbClr val="F57C00"/>
                </a:solidFill>
                <a:latin typeface="Arial"/>
              </a:rPr>
              <a:t>Orange</a:t>
            </a:r>
            <a:r>
              <a:rPr sz="1000" b="0" i="0">
                <a:solidFill>
                  <a:srgbClr val="1E2A2B"/>
                </a:solidFill>
                <a:latin typeface="Arial"/>
              </a:rPr>
              <a:t>: 64-kt winds 72 to 120 hours ahead — counts for </a:t>
            </a:r>
            <a:r>
              <a:rPr sz="1000" b="1" i="0">
                <a:solidFill>
                  <a:srgbClr val="1E2A2B"/>
                </a:solidFill>
                <a:latin typeface="Arial"/>
              </a:rPr>
              <a:t>readiness</a:t>
            </a:r>
            <a:r>
              <a:rPr sz="1000" b="0" i="0">
                <a:solidFill>
                  <a:srgbClr val="1E2A2B"/>
                </a:solidFill>
                <a:latin typeface="Arial"/>
              </a:rPr>
              <a:t> only.</a:t>
            </a:r>
          </a:p>
          <a:p>
            <a:pPr algn="l" marL="152400" indent="-152400">
              <a:lnSpc>
                <a:spcPts val="1500"/>
              </a:lnSpc>
              <a:buChar char="•"/>
            </a:pPr>
            <a:r>
              <a:rPr sz="1000" b="1" i="0">
                <a:solidFill>
                  <a:srgbClr val="5B8FBF"/>
                </a:solidFill>
                <a:latin typeface="Arial"/>
              </a:rPr>
              <a:t>Light blue</a:t>
            </a:r>
            <a:r>
              <a:rPr sz="1000" b="0" i="0">
                <a:solidFill>
                  <a:srgbClr val="1E2A2B"/>
                </a:solidFill>
                <a:latin typeface="Arial"/>
              </a:rPr>
              <a:t>: gale-force (34-kt) winds — shown for context, not part of the trigger.</a:t>
            </a:r>
          </a:p>
          <a:p>
            <a:pPr algn="l" marL="152400" indent="-152400">
              <a:lnSpc>
                <a:spcPts val="1500"/>
              </a:lnSpc>
              <a:buChar char="•"/>
            </a:pPr>
            <a:r>
              <a:rPr sz="1000" b="1" i="0">
                <a:solidFill>
                  <a:srgbClr val="1E2A2B"/>
                </a:solidFill>
                <a:latin typeface="Arial"/>
              </a:rPr>
              <a:t>Dots</a:t>
            </a:r>
            <a:r>
              <a:rPr sz="1000" b="0" i="0">
                <a:solidFill>
                  <a:srgbClr val="1E2A2B"/>
                </a:solidFill>
                <a:latin typeface="Arial"/>
              </a:rPr>
              <a:t>: forecast position every 12 hours (black up to 72 h, grey after); the number is the category.</a:t>
            </a:r>
          </a:p>
          <a:p>
            <a:pPr algn="l" marL="152400" indent="-152400">
              <a:lnSpc>
                <a:spcPts val="1500"/>
              </a:lnSpc>
              <a:buChar char="•"/>
            </a:pPr>
            <a:r>
              <a:rPr sz="1000" b="1" i="0">
                <a:solidFill>
                  <a:srgbClr val="6A51A3"/>
                </a:solidFill>
                <a:latin typeface="Arial"/>
              </a:rPr>
              <a:t>Purple</a:t>
            </a:r>
            <a:r>
              <a:rPr sz="1000" b="0" i="0">
                <a:solidFill>
                  <a:srgbClr val="1E2A2B"/>
                </a:solidFill>
                <a:latin typeface="Arial"/>
              </a:rPr>
              <a:t>: where people live. The trigger counts the people under the red and orange zones.</a:t>
            </a:r>
          </a:p>
          <a:p>
            <a:pPr algn="l" marL="152400" indent="-152400">
              <a:lnSpc>
                <a:spcPts val="1500"/>
              </a:lnSpc>
              <a:buChar char="•"/>
            </a:pPr>
            <a:r>
              <a:rPr sz="1000" b="1" i="0">
                <a:solidFill>
                  <a:srgbClr val="1E2A2B"/>
                </a:solidFill>
                <a:latin typeface="Arial"/>
              </a:rPr>
              <a:t>Dashed line</a:t>
            </a:r>
            <a:r>
              <a:rPr sz="1000" b="0" i="0">
                <a:solidFill>
                  <a:srgbClr val="1E2A2B"/>
                </a:solidFill>
                <a:latin typeface="Arial"/>
              </a:rPr>
              <a:t>: uncertainty cone — for information only, the trigger uses the forecast track.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365654" y="4148402"/>
          <a:ext cx="4231878" cy="15357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9366"/>
                <a:gridCol w="2322512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 IN THE TABLE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371607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below the threshold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7374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ACTIVATED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DE9D4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activates on this forecast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DE9D4"/>
                    </a:solidFill>
                  </a:tcPr>
                </a:tc>
              </a:tr>
              <a:tr h="547026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✓ Activated</a:t>
                      </a:r>
                    </a:p>
                    <a:p>
                      <a:pPr algn="l">
                        <a:lnSpc>
                          <a:spcPts val="1100"/>
                        </a:lnSpc>
                        <a:spcBef>
                          <a:spcPts val="270"/>
                        </a:spcBef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Day 1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activated earlier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" descr="Example forecast 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1100667" y="2343282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THE EXERCISE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100667" y="2546482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Three scenarios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76400" y="2973917"/>
            <a:ext cx="2878667" cy="1540801"/>
            <a:chOff x="1676400" y="2973917"/>
            <a:chExt cx="2878667" cy="1540801"/>
          </a:xfrm>
        </p:grpSpPr>
        <p:sp>
          <p:nvSpPr>
            <p:cNvPr id="5" name="cond rd"/>
            <p:cNvSpPr/>
            <p:nvPr/>
          </p:nvSpPr>
          <p:spPr>
            <a:xfrm>
              <a:off x="1676400" y="2973917"/>
              <a:ext cx="2878667" cy="154080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8467">
              <a:solidFill>
                <a:srgbClr val="DD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194733" rIns="143933" bIns="160867" lIns="143933">
              <a:noAutofit/>
            </a:bodyPr>
            <a:lstStyle/>
            <a:p>
              <a:pPr algn="ctr">
                <a:spcAft>
                  <a:spcPts val="530"/>
                </a:spcAft>
              </a:pPr>
              <a:r>
                <a:rPr sz="2150" b="0" i="0">
                  <a:solidFill>
                    <a:srgbClr val="1E2A2B"/>
                  </a:solidFill>
                  <a:latin typeface="Arial"/>
                </a:rPr>
                <a:t>1️⃣</a:t>
              </a:r>
            </a:p>
            <a:p>
              <a:pPr algn="ctr">
                <a:spcAft>
                  <a:spcPts val="400"/>
                </a:spcAft>
              </a:pPr>
              <a:r>
                <a:rPr sz="1100" b="1" i="0">
                  <a:solidFill>
                    <a:srgbClr val="1E2A2B"/>
                  </a:solidFill>
                  <a:latin typeface="Arial"/>
                </a:rPr>
                <a:t>Cyclone Alpha</a:t>
              </a:r>
            </a:p>
            <a:p>
              <a:pPr algn="ctr">
                <a:lnSpc>
                  <a:spcPts val="140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Readiness, then action.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A Category 4 heads straight for Viti Levu. Readiness activates four days out, action three days out.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676400" y="2973917"/>
              <a:ext cx="2878667" cy="42333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656667" y="2973917"/>
            <a:ext cx="2878667" cy="1540801"/>
            <a:chOff x="4656667" y="2973917"/>
            <a:chExt cx="2878667" cy="1540801"/>
          </a:xfrm>
        </p:grpSpPr>
        <p:sp>
          <p:nvSpPr>
            <p:cNvPr id="8" name="cond or"/>
            <p:cNvSpPr/>
            <p:nvPr/>
          </p:nvSpPr>
          <p:spPr>
            <a:xfrm>
              <a:off x="4656667" y="2973917"/>
              <a:ext cx="2878667" cy="154080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8467">
              <a:solidFill>
                <a:srgbClr val="DD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194733" rIns="143933" bIns="160867" lIns="143933">
              <a:noAutofit/>
            </a:bodyPr>
            <a:lstStyle/>
            <a:p>
              <a:pPr algn="ctr">
                <a:spcAft>
                  <a:spcPts val="530"/>
                </a:spcAft>
              </a:pPr>
              <a:r>
                <a:rPr sz="2150" b="0" i="0">
                  <a:solidFill>
                    <a:srgbClr val="1E2A2B"/>
                  </a:solidFill>
                  <a:latin typeface="Arial"/>
                </a:rPr>
                <a:t>2️⃣</a:t>
              </a:r>
            </a:p>
            <a:p>
              <a:pPr algn="ctr">
                <a:spcAft>
                  <a:spcPts val="400"/>
                </a:spcAft>
              </a:pPr>
              <a:r>
                <a:rPr sz="1100" b="1" i="0">
                  <a:solidFill>
                    <a:srgbClr val="1E2A2B"/>
                  </a:solidFill>
                  <a:latin typeface="Arial"/>
                </a:rPr>
                <a:t>Cyclone Bravo</a:t>
              </a:r>
            </a:p>
            <a:p>
              <a:pPr algn="ctr">
                <a:lnSpc>
                  <a:spcPts val="140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Readiness, then nothing.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Early forecasts take it over Vanua Levu; it turns away. Readiness activates; action never does.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56667" y="2973917"/>
              <a:ext cx="2878667" cy="42333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36933" y="2973917"/>
            <a:ext cx="2878667" cy="1540801"/>
            <a:chOff x="7636933" y="2973917"/>
            <a:chExt cx="2878667" cy="1540801"/>
          </a:xfrm>
        </p:grpSpPr>
        <p:sp>
          <p:nvSpPr>
            <p:cNvPr id="11" name="cond pu"/>
            <p:cNvSpPr/>
            <p:nvPr/>
          </p:nvSpPr>
          <p:spPr>
            <a:xfrm>
              <a:off x="7636933" y="2973917"/>
              <a:ext cx="2878667" cy="154080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8467">
              <a:solidFill>
                <a:srgbClr val="DD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194733" rIns="143933" bIns="160867" lIns="143933">
              <a:noAutofit/>
            </a:bodyPr>
            <a:lstStyle/>
            <a:p>
              <a:pPr algn="ctr">
                <a:spcAft>
                  <a:spcPts val="530"/>
                </a:spcAft>
              </a:pPr>
              <a:r>
                <a:rPr sz="2150" b="0" i="0">
                  <a:solidFill>
                    <a:srgbClr val="1E2A2B"/>
                  </a:solidFill>
                  <a:latin typeface="Arial"/>
                </a:rPr>
                <a:t>3️⃣</a:t>
              </a:r>
            </a:p>
            <a:p>
              <a:pPr algn="ctr">
                <a:spcAft>
                  <a:spcPts val="400"/>
                </a:spcAft>
              </a:pPr>
              <a:r>
                <a:rPr sz="1100" b="1" i="0">
                  <a:solidFill>
                    <a:srgbClr val="1E2A2B"/>
                  </a:solidFill>
                  <a:latin typeface="Arial"/>
                </a:rPr>
                <a:t>Cyclone Charlie</a:t>
              </a:r>
            </a:p>
            <a:p>
              <a:pPr algn="ctr">
                <a:lnSpc>
                  <a:spcPts val="140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Observational only.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A weaker, slow storm that never brings hurricane-force winds, but stalls and floods Viti Levu.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36933" y="2973917"/>
              <a:ext cx="2878667" cy="42333"/>
            </a:xfrm>
            <a:prstGeom prst="rect">
              <a:avLst/>
            </a:prstGeom>
            <a:solidFill>
              <a:srgbClr val="6A3D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1100667" y="1255845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REMINDER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100667" y="1459045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What happens when a trigger activates</a:t>
            </a:r>
          </a:p>
        </p:txBody>
      </p:sp>
      <p:sp>
        <p:nvSpPr>
          <p:cNvPr id="4" name="LI"/>
          <p:cNvSpPr/>
          <p:nvPr/>
        </p:nvSpPr>
        <p:spPr>
          <a:xfrm>
            <a:off x="2624667" y="1886479"/>
            <a:ext cx="6942667" cy="817827"/>
          </a:xfrm>
          <a:prstGeom prst="roundRect">
            <a:avLst>
              <a:gd name="adj" fmla="val 12423"/>
            </a:avLst>
          </a:prstGeom>
          <a:solidFill>
            <a:srgbClr val="FFFFFF"/>
          </a:solidFill>
          <a:ln w="8467">
            <a:solidFill>
              <a:srgbClr val="DD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0067" rIns="143933" bIns="110067" lIns="143933">
            <a:noAutofit/>
          </a:bodyPr>
          <a:lstStyle/>
          <a:p>
            <a:pPr algn="l">
              <a:lnSpc>
                <a:spcPts val="1550"/>
              </a:lnSpc>
            </a:pPr>
            <a:r>
              <a:rPr sz="1050" b="0" i="0">
                <a:solidFill>
                  <a:srgbClr val="1E2A2B"/>
                </a:solidFill>
                <a:latin typeface="Arial"/>
              </a:rPr>
              <a:t>📧 </a:t>
            </a:r>
            <a:r>
              <a:rPr sz="1050" b="1" i="0">
                <a:solidFill>
                  <a:srgbClr val="1E2A2B"/>
                </a:solidFill>
                <a:latin typeface="Arial"/>
              </a:rPr>
              <a:t>Every activation</a:t>
            </a:r>
            <a:r>
              <a:rPr sz="1050" b="0" i="0">
                <a:solidFill>
                  <a:srgbClr val="1E2A2B"/>
                </a:solidFill>
                <a:latin typeface="Arial"/>
              </a:rPr>
              <a:t>: an automated email from OCHA goes to the trigger distribution list as soon as the forecast is checked (or at the daily rainfall check). A separate information email with maps and numbers follows every forecast.</a:t>
            </a:r>
          </a:p>
        </p:txBody>
      </p:sp>
      <p:sp>
        <p:nvSpPr>
          <p:cNvPr id="5" name="LI"/>
          <p:cNvSpPr/>
          <p:nvPr/>
        </p:nvSpPr>
        <p:spPr>
          <a:xfrm>
            <a:off x="2624667" y="2788973"/>
            <a:ext cx="6942667" cy="618596"/>
          </a:xfrm>
          <a:prstGeom prst="roundRect">
            <a:avLst>
              <a:gd name="adj" fmla="val 16424"/>
            </a:avLst>
          </a:prstGeom>
          <a:solidFill>
            <a:srgbClr val="FFFFFF"/>
          </a:solidFill>
          <a:ln w="8467">
            <a:solidFill>
              <a:srgbClr val="DD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0067" rIns="143933" bIns="110067" lIns="143933">
            <a:noAutofit/>
          </a:bodyPr>
          <a:lstStyle/>
          <a:p>
            <a:pPr algn="l">
              <a:lnSpc>
                <a:spcPts val="1550"/>
              </a:lnSpc>
            </a:pPr>
            <a:r>
              <a:rPr sz="1050" b="0" i="0">
                <a:solidFill>
                  <a:srgbClr val="1E2A2B"/>
                </a:solidFill>
                <a:latin typeface="Arial"/>
              </a:rPr>
              <a:t>🟧 </a:t>
            </a:r>
            <a:r>
              <a:rPr sz="1050" b="1" i="0">
                <a:solidFill>
                  <a:srgbClr val="1E2A2B"/>
                </a:solidFill>
                <a:latin typeface="Arial"/>
              </a:rPr>
              <a:t>Readiness</a:t>
            </a:r>
            <a:r>
              <a:rPr sz="1050" b="0" i="0">
                <a:solidFill>
                  <a:srgbClr val="1E2A2B"/>
                </a:solidFill>
                <a:latin typeface="Arial"/>
              </a:rPr>
              <a:t>: CERF sends approval letters and releases funds to the agencies. Agencies can spend the readiness share and start readiness activities.</a:t>
            </a:r>
          </a:p>
        </p:txBody>
      </p:sp>
      <p:sp>
        <p:nvSpPr>
          <p:cNvPr id="6" name="LI"/>
          <p:cNvSpPr/>
          <p:nvPr/>
        </p:nvSpPr>
        <p:spPr>
          <a:xfrm>
            <a:off x="2624667" y="3492235"/>
            <a:ext cx="6942667" cy="618596"/>
          </a:xfrm>
          <a:prstGeom prst="roundRect">
            <a:avLst>
              <a:gd name="adj" fmla="val 16424"/>
            </a:avLst>
          </a:prstGeom>
          <a:solidFill>
            <a:srgbClr val="FFFFFF"/>
          </a:solidFill>
          <a:ln w="8467">
            <a:solidFill>
              <a:srgbClr val="DD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0067" rIns="143933" bIns="110067" lIns="143933">
            <a:noAutofit/>
          </a:bodyPr>
          <a:lstStyle/>
          <a:p>
            <a:pPr algn="l">
              <a:lnSpc>
                <a:spcPts val="1550"/>
              </a:lnSpc>
            </a:pPr>
            <a:r>
              <a:rPr sz="1050" b="0" i="0">
                <a:solidFill>
                  <a:srgbClr val="1E2A2B"/>
                </a:solidFill>
                <a:latin typeface="Arial"/>
              </a:rPr>
              <a:t>🟥 </a:t>
            </a:r>
            <a:r>
              <a:rPr sz="1050" b="1" i="0">
                <a:solidFill>
                  <a:srgbClr val="1E2A2B"/>
                </a:solidFill>
                <a:latin typeface="Arial"/>
              </a:rPr>
              <a:t>Action</a:t>
            </a:r>
            <a:r>
              <a:rPr sz="1050" b="0" i="0">
                <a:solidFill>
                  <a:srgbClr val="1E2A2B"/>
                </a:solidFill>
                <a:latin typeface="Arial"/>
              </a:rPr>
              <a:t>: the rest of the CERF funds can be used and all anticipatory actions start. IFRC transfers the pre-approved DREF funds to Fiji Red Cross.</a:t>
            </a:r>
          </a:p>
        </p:txBody>
      </p:sp>
      <p:sp>
        <p:nvSpPr>
          <p:cNvPr id="7" name="LI"/>
          <p:cNvSpPr/>
          <p:nvPr/>
        </p:nvSpPr>
        <p:spPr>
          <a:xfrm>
            <a:off x="2624667" y="4195498"/>
            <a:ext cx="6942667" cy="618596"/>
          </a:xfrm>
          <a:prstGeom prst="roundRect">
            <a:avLst>
              <a:gd name="adj" fmla="val 16424"/>
            </a:avLst>
          </a:prstGeom>
          <a:solidFill>
            <a:srgbClr val="FFFFFF"/>
          </a:solidFill>
          <a:ln w="8467">
            <a:solidFill>
              <a:srgbClr val="DD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0067" rIns="143933" bIns="110067" lIns="143933">
            <a:noAutofit/>
          </a:bodyPr>
          <a:lstStyle/>
          <a:p>
            <a:pPr algn="l">
              <a:lnSpc>
                <a:spcPts val="1550"/>
              </a:lnSpc>
            </a:pPr>
            <a:r>
              <a:rPr sz="1050" b="0" i="0">
                <a:solidFill>
                  <a:srgbClr val="1E2A2B"/>
                </a:solidFill>
                <a:latin typeface="Arial"/>
              </a:rPr>
              <a:t>🟪 </a:t>
            </a:r>
            <a:r>
              <a:rPr sz="1050" b="1" i="0">
                <a:solidFill>
                  <a:srgbClr val="1E2A2B"/>
                </a:solidFill>
                <a:latin typeface="Arial"/>
              </a:rPr>
              <a:t>Observational</a:t>
            </a:r>
            <a:r>
              <a:rPr sz="1050" b="0" i="0">
                <a:solidFill>
                  <a:srgbClr val="1E2A2B"/>
                </a:solidFill>
                <a:latin typeface="Arial"/>
              </a:rPr>
              <a:t>: treated like the action trigger — all anticipatory actions start. (The framework does not spell this out; this is how it is applied in this exercise.)</a:t>
            </a:r>
          </a:p>
        </p:txBody>
      </p:sp>
      <p:sp>
        <p:nvSpPr>
          <p:cNvPr id="8" name="LI"/>
          <p:cNvSpPr/>
          <p:nvPr/>
        </p:nvSpPr>
        <p:spPr>
          <a:xfrm>
            <a:off x="2624667" y="4898760"/>
            <a:ext cx="6942667" cy="618596"/>
          </a:xfrm>
          <a:prstGeom prst="roundRect">
            <a:avLst>
              <a:gd name="adj" fmla="val 16424"/>
            </a:avLst>
          </a:prstGeom>
          <a:solidFill>
            <a:srgbClr val="FFFFFF"/>
          </a:solidFill>
          <a:ln w="8467">
            <a:solidFill>
              <a:srgbClr val="DD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0067" rIns="143933" bIns="110067" lIns="143933">
            <a:noAutofit/>
          </a:bodyPr>
          <a:lstStyle/>
          <a:p>
            <a:pPr algn="l">
              <a:lnSpc>
                <a:spcPts val="1550"/>
              </a:lnSpc>
            </a:pPr>
            <a:r>
              <a:rPr sz="1050" b="0" i="0">
                <a:solidFill>
                  <a:srgbClr val="1E2A2B"/>
                </a:solidFill>
                <a:latin typeface="Arial"/>
              </a:rPr>
              <a:t>⏸️ For outlier storms that clearly will have minimal impact, the Resident Coordinator, in consultation with the government, may pause an activation.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5121143" y="2784210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ctr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100667" y="3038210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SCENARIO 1 OF 3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100667" y="3241410"/>
            <a:ext cx="9990667" cy="436166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3450"/>
              </a:lnSpc>
            </a:pPr>
            <a:r>
              <a:rPr sz="3000" b="1" i="0">
                <a:solidFill>
                  <a:srgbClr val="1E2A2B"/>
                </a:solidFill>
                <a:latin typeface="Arial"/>
              </a:rPr>
              <a:t>Cyclone Alpha</a:t>
            </a:r>
          </a:p>
        </p:txBody>
      </p:sp>
      <p:sp>
        <p:nvSpPr>
          <p:cNvPr id="5" name="lead"/>
          <p:cNvSpPr txBox="1"/>
          <p:nvPr/>
        </p:nvSpPr>
        <p:spPr>
          <a:xfrm>
            <a:off x="2455333" y="3829976"/>
            <a:ext cx="7281333" cy="24381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1900"/>
              </a:lnSpc>
            </a:pPr>
            <a:r>
              <a:rPr sz="1300" b="0" i="0">
                <a:solidFill>
                  <a:srgbClr val="1E2A2B"/>
                </a:solidFill>
                <a:latin typeface="Arial"/>
              </a:rPr>
              <a:t>Readiness, then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408906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662906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ALPHA · FORECAST 1 OF 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866106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1, 00:00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263643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416043"/>
            <a:ext cx="4367555" cy="877887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RSMC Nadi issues its first forecast for Cyclone Alpha, west of Vanuatu. It is forecast to reach only Category 2: no hurricane-force (64-kt) winds anywhere, so nobody is in the red or orange zone.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412464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Alpha, Day 1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09497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34897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ALPHA · FORECAST 2 OF 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55217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1, 12:00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1949715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102115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Alpha is now forecast to become a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4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cyclone and cross Viti Levu in about four days.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649,967 people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are in the 64-kt zone of the 120-hour forecast — but none in the first 72 hours.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2879064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DE9D4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649,967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DE9D4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ACTIVATED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DE9D4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654" y="5033962"/>
            <a:ext cx="4240345" cy="728927"/>
            <a:chOff x="365654" y="5033962"/>
            <a:chExt cx="4240345" cy="728927"/>
          </a:xfrm>
        </p:grpSpPr>
        <p:sp>
          <p:nvSpPr>
            <p:cNvPr id="9" name="callout orange"/>
            <p:cNvSpPr/>
            <p:nvPr/>
          </p:nvSpPr>
          <p:spPr>
            <a:xfrm>
              <a:off x="365654" y="5033962"/>
              <a:ext cx="4240345" cy="728927"/>
            </a:xfrm>
            <a:prstGeom prst="rect">
              <a:avLst/>
            </a:prstGeom>
            <a:solidFill>
              <a:srgbClr val="FDF1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Readiness trigger activated.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An automated email goes to the trigger distribution list. CERF sends approval letters to agencies and readiness activities start.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65654" y="5033962"/>
              <a:ext cx="33867" cy="728927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" name="picture" descr="Forecast map for Cyclone Alpha, Day 1, 12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2085975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2339975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ALPHA · DAY 1, 12:00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2543175"/>
            <a:ext cx="4240345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The readiness trigger email</a:t>
            </a:r>
          </a:p>
        </p:txBody>
      </p:sp>
      <p:sp>
        <p:nvSpPr>
          <p:cNvPr id="5" name="lede"/>
          <p:cNvSpPr txBox="1"/>
          <p:nvPr/>
        </p:nvSpPr>
        <p:spPr>
          <a:xfrm>
            <a:off x="365654" y="2970609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As soon as the forecast is checked, the monitoring system sends an email like this automatically to the trigger distribution list (framework Annex 4).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365654" y="3747558"/>
            <a:ext cx="4240345" cy="176742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Mock-up for the exercise, based on the live email template.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65654" y="4042833"/>
            <a:ext cx="4240345" cy="728927"/>
            <a:chOff x="365654" y="4042833"/>
            <a:chExt cx="4240345" cy="728927"/>
          </a:xfrm>
        </p:grpSpPr>
        <p:sp>
          <p:nvSpPr>
            <p:cNvPr id="8" name="callout orange"/>
            <p:cNvSpPr/>
            <p:nvPr/>
          </p:nvSpPr>
          <p:spPr>
            <a:xfrm>
              <a:off x="365654" y="4042833"/>
              <a:ext cx="4240345" cy="728927"/>
            </a:xfrm>
            <a:prstGeom prst="rect">
              <a:avLst/>
            </a:prstGeom>
            <a:solidFill>
              <a:srgbClr val="FDF1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Readiness trigger activated.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An automated email goes to the trigger distribution list. CERF sends approval letters to agencies and readiness activities start.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042833"/>
              <a:ext cx="33867" cy="728927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Mock readiness trigger email for Cyclone Alph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065" y="531680"/>
            <a:ext cx="5882217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408906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662906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ALPHA · FORECAST 3 OF 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866106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2, 00:00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263643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416043"/>
            <a:ext cx="4367555" cy="877887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The track holds. Within the next 72 hours, hurricane-force winds now reach the Yasawa Group: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3,901 people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— just below the 5,000 threshold. Readiness is already activated; action is not reached yet.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412464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637,137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✓ Activated</a:t>
                      </a:r>
                    </a:p>
                    <a:p>
                      <a:pPr algn="l">
                        <a:lnSpc>
                          <a:spcPts val="1100"/>
                        </a:lnSpc>
                        <a:spcBef>
                          <a:spcPts val="270"/>
                        </a:spcBef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Day 1, 12:00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3,901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Alpha, Day 2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20464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45864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ALPHA · FORECAST 4 OF 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66184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2, 12:00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059384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211784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Landfall is now about three days away: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658,281 people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are in the 64-kt zone within the 72-hour forecast.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2769261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0775"/>
                <a:gridCol w="2081477"/>
                <a:gridCol w="1029626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678,500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✓ Activated</a:t>
                      </a:r>
                    </a:p>
                    <a:p>
                      <a:pPr algn="l">
                        <a:lnSpc>
                          <a:spcPts val="1100"/>
                        </a:lnSpc>
                        <a:spcBef>
                          <a:spcPts val="270"/>
                        </a:spcBef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Day 1, 12:00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9DCDC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658,281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9DCDC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C62828"/>
                          </a:solidFill>
                          <a:latin typeface="Arial"/>
                        </a:rPr>
                        <a:t>ACTIVATED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9DCDC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654" y="4924160"/>
            <a:ext cx="4240345" cy="728927"/>
            <a:chOff x="365654" y="4924160"/>
            <a:chExt cx="4240345" cy="728927"/>
          </a:xfrm>
        </p:grpSpPr>
        <p:sp>
          <p:nvSpPr>
            <p:cNvPr id="9" name="callout red"/>
            <p:cNvSpPr/>
            <p:nvPr/>
          </p:nvSpPr>
          <p:spPr>
            <a:xfrm>
              <a:off x="365654" y="4924160"/>
              <a:ext cx="4240345" cy="728927"/>
            </a:xfrm>
            <a:prstGeom prst="rect">
              <a:avLst/>
            </a:prstGeom>
            <a:solidFill>
              <a:srgbClr val="FBEC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Action trigger activated.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An automated email goes to the trigger distribution list. All anticipatory actions start, and IFRC transfers the pre-approved DREF funds to Fiji Red Cross.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65654" y="4924160"/>
              <a:ext cx="33867" cy="728927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" name="picture" descr="Forecast map for Cyclone Alpha, Day 2, 12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2085975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2339975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ALPHA · DAY 2, 12:00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2543175"/>
            <a:ext cx="4240345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The action trigger email</a:t>
            </a:r>
          </a:p>
        </p:txBody>
      </p:sp>
      <p:sp>
        <p:nvSpPr>
          <p:cNvPr id="5" name="lede"/>
          <p:cNvSpPr txBox="1"/>
          <p:nvPr/>
        </p:nvSpPr>
        <p:spPr>
          <a:xfrm>
            <a:off x="365654" y="2970609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As soon as the forecast is checked, the monitoring system sends an email like this automatically to the trigger distribution list (framework Annex 4).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365654" y="3747558"/>
            <a:ext cx="4240345" cy="176742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Mock-up for the exercise, based on the live email template.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65654" y="4042833"/>
            <a:ext cx="4240345" cy="728927"/>
            <a:chOff x="365654" y="4042833"/>
            <a:chExt cx="4240345" cy="728927"/>
          </a:xfrm>
        </p:grpSpPr>
        <p:sp>
          <p:nvSpPr>
            <p:cNvPr id="8" name="callout red"/>
            <p:cNvSpPr/>
            <p:nvPr/>
          </p:nvSpPr>
          <p:spPr>
            <a:xfrm>
              <a:off x="365654" y="4042833"/>
              <a:ext cx="4240345" cy="728927"/>
            </a:xfrm>
            <a:prstGeom prst="rect">
              <a:avLst/>
            </a:prstGeom>
            <a:solidFill>
              <a:srgbClr val="FBEC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Action trigger activated.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An automated email goes to the trigger distribution list. All anticipatory actions start, and IFRC transfers the pre-approved DREF funds to Fiji Red Cross.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042833"/>
              <a:ext cx="33867" cy="728927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Mock action trigger email for Cyclone Alph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530" y="531680"/>
            <a:ext cx="6051285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408906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662906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ALPHA · FORECAST 5 OF 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866106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4, 00:00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263643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416043"/>
            <a:ext cx="4367555" cy="877887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Alpha is a Category 4 cyclone, about a day and a half from landfall on Viti Levu. Both forecast triggers have already activated. RSMC Nadi forecasts keep coming, and OCHA keeps sending a forecast information email for each one.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412464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0775"/>
                <a:gridCol w="2081477"/>
                <a:gridCol w="1029626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678,270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✓ Activated</a:t>
                      </a:r>
                    </a:p>
                    <a:p>
                      <a:pPr algn="l">
                        <a:lnSpc>
                          <a:spcPts val="1100"/>
                        </a:lnSpc>
                        <a:spcBef>
                          <a:spcPts val="270"/>
                        </a:spcBef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Day 1, 12:00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678,270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C62828"/>
                          </a:solidFill>
                          <a:latin typeface="Arial"/>
                        </a:rPr>
                        <a:t>✓ Activated</a:t>
                      </a:r>
                    </a:p>
                    <a:p>
                      <a:pPr algn="l">
                        <a:lnSpc>
                          <a:spcPts val="1100"/>
                        </a:lnSpc>
                        <a:spcBef>
                          <a:spcPts val="270"/>
                        </a:spcBef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Day 2, 12:00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Alpha, Day 4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5121143" y="170166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ctr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100667" y="1955668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CYCLONE ALPHA · RECAP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100667" y="2158868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Readiness, then action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2286000" y="2586302"/>
          <a:ext cx="7611534" cy="20702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9849"/>
                <a:gridCol w="4584039"/>
                <a:gridCol w="1907646"/>
              </a:tblGrid>
              <a:tr h="266700"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T="76200" marR="101600" marB="76200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WHAT CAME IN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355732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1, 00:00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1: 0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401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1, 12:00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2: 649,967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READINESS ACTIVATED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2, 00:00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3: 637,137 people in 64-kt zone (120 h), 3,901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401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2, 12:00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4: 678,500 people in 64-kt zone (120 h), 658,281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C62828"/>
                          </a:solidFill>
                          <a:latin typeface="Arial"/>
                        </a:rPr>
                        <a:t>ACTION ACTIVATED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4, 00:00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5: 678,270 people in 64-kt zone (120 h), 678,270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2286000" y="4800468"/>
            <a:ext cx="7620000" cy="355865"/>
            <a:chOff x="2286000" y="4800468"/>
            <a:chExt cx="7620000" cy="355865"/>
          </a:xfrm>
        </p:grpSpPr>
        <p:sp>
          <p:nvSpPr>
            <p:cNvPr id="7" name="callout red"/>
            <p:cNvSpPr/>
            <p:nvPr/>
          </p:nvSpPr>
          <p:spPr>
            <a:xfrm>
              <a:off x="2286000" y="4800468"/>
              <a:ext cx="7620000" cy="355865"/>
            </a:xfrm>
            <a:prstGeom prst="rect">
              <a:avLst/>
            </a:prstGeom>
            <a:solidFill>
              <a:srgbClr val="FBEC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non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0" i="0">
                  <a:solidFill>
                    <a:srgbClr val="1E2A2B"/>
                  </a:solidFill>
                  <a:latin typeface="Arial"/>
                </a:rPr>
                <a:t>Readiness gave about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four days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of warning before landfall, and action about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three days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.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86000" y="4800468"/>
              <a:ext cx="33867" cy="355865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5121143" y="2784210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ctr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100667" y="3038210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SCENARIO 2 OF 3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100667" y="3241410"/>
            <a:ext cx="9990667" cy="436166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3450"/>
              </a:lnSpc>
            </a:pPr>
            <a:r>
              <a:rPr sz="3000" b="1" i="0">
                <a:solidFill>
                  <a:srgbClr val="1E2A2B"/>
                </a:solidFill>
                <a:latin typeface="Arial"/>
              </a:rPr>
              <a:t>Cyclone Bravo</a:t>
            </a:r>
          </a:p>
        </p:txBody>
      </p:sp>
      <p:sp>
        <p:nvSpPr>
          <p:cNvPr id="5" name="lead"/>
          <p:cNvSpPr txBox="1"/>
          <p:nvPr/>
        </p:nvSpPr>
        <p:spPr>
          <a:xfrm>
            <a:off x="2455333" y="3829976"/>
            <a:ext cx="7281333" cy="24381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1900"/>
              </a:lnSpc>
            </a:pPr>
            <a:r>
              <a:rPr sz="1300" b="0" i="0">
                <a:solidFill>
                  <a:srgbClr val="1E2A2B"/>
                </a:solidFill>
                <a:latin typeface="Arial"/>
              </a:rPr>
              <a:t>Readiness, then nothing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985176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239176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BRAVO · FORECAST 1 OF 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442376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1, 00:00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1839912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1992312"/>
            <a:ext cx="4367555" cy="877887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Cyclone Bravo, north of Fiji, is forecast to strengthen to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4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and pass over Vanua Levu in about four days.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32,817 people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are in the 64-kt zone of the 120-hour forecast, all beyond 72 hours.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2988733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DE9D4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32,817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DE9D4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ACTIVATED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DE9D4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65654" y="5143632"/>
            <a:ext cx="4240345" cy="728927"/>
            <a:chOff x="365654" y="5143632"/>
            <a:chExt cx="4240345" cy="728927"/>
          </a:xfrm>
        </p:grpSpPr>
        <p:sp>
          <p:nvSpPr>
            <p:cNvPr id="9" name="callout orange"/>
            <p:cNvSpPr/>
            <p:nvPr/>
          </p:nvSpPr>
          <p:spPr>
            <a:xfrm>
              <a:off x="365654" y="5143632"/>
              <a:ext cx="4240345" cy="728927"/>
            </a:xfrm>
            <a:prstGeom prst="rect">
              <a:avLst/>
            </a:prstGeom>
            <a:solidFill>
              <a:srgbClr val="FDF1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Readiness trigger activated.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An automated email goes to the trigger distribution list. CERF sends approval letters to agencies and readiness activities start.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65654" y="5143632"/>
              <a:ext cx="33867" cy="728927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" name="picture" descr="Forecast map for Cyclone Bravo, Day 1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2085975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2339975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BRAVO · DAY 1, 00:00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2543175"/>
            <a:ext cx="4240345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The readiness trigger email</a:t>
            </a:r>
          </a:p>
        </p:txBody>
      </p:sp>
      <p:sp>
        <p:nvSpPr>
          <p:cNvPr id="5" name="lede"/>
          <p:cNvSpPr txBox="1"/>
          <p:nvPr/>
        </p:nvSpPr>
        <p:spPr>
          <a:xfrm>
            <a:off x="365654" y="2970609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As soon as the forecast is checked, the monitoring system sends an email like this automatically to the trigger distribution list (framework Annex 4).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365654" y="3747558"/>
            <a:ext cx="4240345" cy="176742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Mock-up for the exercise, based on the live email template.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65654" y="4042833"/>
            <a:ext cx="4240345" cy="728927"/>
            <a:chOff x="365654" y="4042833"/>
            <a:chExt cx="4240345" cy="728927"/>
          </a:xfrm>
        </p:grpSpPr>
        <p:sp>
          <p:nvSpPr>
            <p:cNvPr id="8" name="callout orange"/>
            <p:cNvSpPr/>
            <p:nvPr/>
          </p:nvSpPr>
          <p:spPr>
            <a:xfrm>
              <a:off x="365654" y="4042833"/>
              <a:ext cx="4240345" cy="728927"/>
            </a:xfrm>
            <a:prstGeom prst="rect">
              <a:avLst/>
            </a:prstGeom>
            <a:solidFill>
              <a:srgbClr val="FDF1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Readiness trigger activated.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An automated email goes to the trigger distribution list. CERF sends approval letters to agencies and readiness activities start.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042833"/>
              <a:ext cx="33867" cy="728927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Mock readiness trigger email for Cyclone Brav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065" y="531680"/>
            <a:ext cx="5882217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51870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77270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BRAVO · FORECAST 2 OF 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97590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1, 12:00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373445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525845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The forecast shifts east: hurricane-force winds now pass about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20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land, so nobody is in the 64-kt zone. Readiness stays activated.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302794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✓ Activated</a:t>
                      </a:r>
                    </a:p>
                    <a:p>
                      <a:pPr algn="l">
                        <a:lnSpc>
                          <a:spcPts val="1100"/>
                        </a:lnSpc>
                        <a:spcBef>
                          <a:spcPts val="270"/>
                        </a:spcBef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Day 1, 00:00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Bravo, Day 1, 12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62837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88237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BRAVO · FORECAST 3 OF 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208557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2, 00:00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483115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635515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Bravo is now forecast to curve south-east, away from Fiji. The 64-kt winds stay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65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offshore.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192992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✓ Activated</a:t>
                      </a:r>
                    </a:p>
                    <a:p>
                      <a:pPr algn="l">
                        <a:lnSpc>
                          <a:spcPts val="1100"/>
                        </a:lnSpc>
                        <a:spcBef>
                          <a:spcPts val="270"/>
                        </a:spcBef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Day 1, 00:00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Bravo, Day 2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62837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88237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BRAVO · FORECAST 4 OF 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208557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2, 12:00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483115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635515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Further east again: the closest hurricane-force winds are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85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land. The action threshold is not reached.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192992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✓ Activated</a:t>
                      </a:r>
                    </a:p>
                    <a:p>
                      <a:pPr algn="l">
                        <a:lnSpc>
                          <a:spcPts val="1100"/>
                        </a:lnSpc>
                        <a:spcBef>
                          <a:spcPts val="270"/>
                        </a:spcBef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Day 1, 00:00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Bravo, Day 2, 12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62837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88237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BRAVO · FORECAST 5 OF 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208557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3, 12:00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483115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635515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Bravo passes east of the Lau Group, its centre 140 km from land at the closest. Its hurricane-force winds stay 90 km offshore.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192992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✓ Activated</a:t>
                      </a:r>
                    </a:p>
                    <a:p>
                      <a:pPr algn="l">
                        <a:lnSpc>
                          <a:spcPts val="1100"/>
                        </a:lnSpc>
                        <a:spcBef>
                          <a:spcPts val="270"/>
                        </a:spcBef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Day 1, 00:00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Bravo, Day 3, 12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33164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58564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BRAVO · RAINFALL CHECK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78884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5, 12:00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186384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338784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Satellite rainfall for Days 3 and 4, while Bravo was within 250 km of Fiji: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5 mm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averaged over the whole country — far below 190 mm. Nothing more activates for this storm.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115733"/>
          <a:ext cx="4231878" cy="19300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3782"/>
                <a:gridCol w="1794404"/>
                <a:gridCol w="1173692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RAINFALL CHECK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551259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✓ Activated</a:t>
                      </a:r>
                    </a:p>
                    <a:p>
                      <a:pPr algn="l">
                        <a:lnSpc>
                          <a:spcPts val="1100"/>
                        </a:lnSpc>
                        <a:spcBef>
                          <a:spcPts val="270"/>
                        </a:spcBef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Day 1, 00:00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5 mm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country average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190 mm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365654" y="5172736"/>
            <a:ext cx="4367555" cy="35348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Storm centre within 250 km of Fiji during these days (±1 day): ✓ (closest 115 km). Rainfall here is invented for the exercise.</a:t>
            </a:r>
          </a:p>
        </p:txBody>
      </p:sp>
      <p:pic>
        <p:nvPicPr>
          <p:cNvPr id="9" name="picture" descr="Two-day rainfall map, Days 3 and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132" y="1067461"/>
            <a:ext cx="7000081" cy="4689210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5121143" y="144303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ctr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100667" y="1697037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CYCLONE BRAVO · RECAP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100667" y="1900237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Readiness, then nothing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2286000" y="2327672"/>
          <a:ext cx="7611534" cy="240082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06765"/>
                <a:gridCol w="4349353"/>
                <a:gridCol w="2055416"/>
              </a:tblGrid>
              <a:tr h="266700"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T="76200" marR="101600" marB="76200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WHAT CAME IN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376634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1, 00:00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1: 32,817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READINESS ACTIVATED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1, 12:00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2: 0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2, 00:00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3: 0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2, 12:00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4: 0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3, 12:00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5: 0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5, 12:00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Rainfall, Days 3 and 4: 5 mm country average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below 190 mm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2286000" y="4872434"/>
            <a:ext cx="7620000" cy="542396"/>
            <a:chOff x="2286000" y="4872434"/>
            <a:chExt cx="7620000" cy="542396"/>
          </a:xfrm>
        </p:grpSpPr>
        <p:sp>
          <p:nvSpPr>
            <p:cNvPr id="7" name="callout orange"/>
            <p:cNvSpPr/>
            <p:nvPr/>
          </p:nvSpPr>
          <p:spPr>
            <a:xfrm>
              <a:off x="2286000" y="4872434"/>
              <a:ext cx="7620000" cy="542396"/>
            </a:xfrm>
            <a:prstGeom prst="rect">
              <a:avLst/>
            </a:prstGeom>
            <a:solidFill>
              <a:srgbClr val="FDF1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0" i="0">
                  <a:solidFill>
                    <a:srgbClr val="1E2A2B"/>
                  </a:solidFill>
                  <a:latin typeface="Arial"/>
                </a:rPr>
                <a:t>Readiness activities went ahead — CERF disburses on a no-regrets basis. Action was never reached, so the action share of the CERF funds is not used and no DREF transfer is made.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86000" y="4872434"/>
              <a:ext cx="33867" cy="542396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5121143" y="2784210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ctr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100667" y="3038210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SCENARIO 3 OF 3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100667" y="3241410"/>
            <a:ext cx="9990667" cy="436166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3450"/>
              </a:lnSpc>
            </a:pPr>
            <a:r>
              <a:rPr sz="3000" b="1" i="0">
                <a:solidFill>
                  <a:srgbClr val="1E2A2B"/>
                </a:solidFill>
                <a:latin typeface="Arial"/>
              </a:rPr>
              <a:t>Cyclone Charlie</a:t>
            </a:r>
          </a:p>
        </p:txBody>
      </p:sp>
      <p:sp>
        <p:nvSpPr>
          <p:cNvPr id="5" name="lead"/>
          <p:cNvSpPr txBox="1"/>
          <p:nvPr/>
        </p:nvSpPr>
        <p:spPr>
          <a:xfrm>
            <a:off x="2455333" y="3829976"/>
            <a:ext cx="7281333" cy="243814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1900"/>
              </a:lnSpc>
            </a:pPr>
            <a:r>
              <a:rPr sz="1300" b="0" i="0">
                <a:solidFill>
                  <a:srgbClr val="1E2A2B"/>
                </a:solidFill>
                <a:latin typeface="Arial"/>
              </a:rPr>
              <a:t>Observational trigger only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51870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77270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CHARLIE · FORECAST 1 OF 4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97590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1, 00:00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373445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525845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Cyclone Charlie, west of Fiji, is forecast to move slowly across Viti Levu — but only as a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2</a:t>
            </a:r>
            <a:r>
              <a:rPr sz="1150" b="0" i="0">
                <a:solidFill>
                  <a:srgbClr val="1E2A2B"/>
                </a:solidFill>
                <a:latin typeface="Arial"/>
              </a:rPr>
              <a:t>. No hurricane-force winds are forecast, so nobody is in the 64-kt zone.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302794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Charlie, Day 1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51870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77270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CHARLIE · FORECAST 2 OF 4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97590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2, 00:00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373445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525845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Charlie is slowing down. Gale-force winds are forecast over most of Viti Levu (719,509 people in the 34-kt zone) for the next two to three days — but still no 64-kt winds.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302794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Charlie, Day 2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51870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77270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CHARLIE · FORECAST 3 OF 4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97590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3, 00:00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373445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525845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Charlie is almost stationary over western Viti Levu, with very heavy rain. The forecast triggers only look at 64-kt winds, so they do not activate.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302794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Charlie, Day 3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62837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882378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CHARLIE · FORECAST 4 OF 4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2085578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4, 00:00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483115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635515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Still Category 2, still no 64-kt winds forecast. For this storm, it is the rainfall that matters.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192992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" descr="Forecast map for Cyclone Charlie, Day 4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94" y="531680"/>
            <a:ext cx="6948091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1363133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617133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CHARLIE · RAINFALL CHECK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820333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4, 12:00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221787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2370270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Rainfall check covering Days 2 and 3: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125 mm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averaged over the whole country. Very heavy in places (up to 280 mm), but the country average is below 190 mm.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3147219"/>
          <a:ext cx="4231878" cy="186703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3511"/>
                <a:gridCol w="1891639"/>
                <a:gridCol w="1126728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RAINFALL CHECK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8289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125 mm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country average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190 mm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365654" y="5141251"/>
            <a:ext cx="4367555" cy="35348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Storm centre within 250 km of Fiji during these days (±1 day): ✓ (closest 0 km). Rainfall here is invented for the exercise.</a:t>
            </a:r>
          </a:p>
        </p:txBody>
      </p:sp>
      <p:pic>
        <p:nvPicPr>
          <p:cNvPr id="9" name="picture" descr="Two-day rainfall map, Days 2 and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132" y="1067461"/>
            <a:ext cx="7000081" cy="4689210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939403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1193403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CHARLIE · RAINFALL CHECK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1396603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Day 5, 12:00</a:t>
            </a:r>
          </a:p>
        </p:txBody>
      </p:sp>
      <p:sp>
        <p:nvSpPr>
          <p:cNvPr id="5" name="rule"/>
          <p:cNvSpPr/>
          <p:nvPr/>
        </p:nvSpPr>
        <p:spPr>
          <a:xfrm>
            <a:off x="365654" y="179414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365654" y="1946540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Satellite rainfall for Days 3 and 4, with Charlie's centre over Viti Levu: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210 mm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averaged over the whole country (up to 380 mm locally). That is above 190 mm.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654" y="2723489"/>
          <a:ext cx="4231878" cy="186703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3511"/>
                <a:gridCol w="1891639"/>
                <a:gridCol w="1126728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RAINFALL CHECK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8289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ECE4F5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210 mm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country average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190 mm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ECE4F5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6A3D9A"/>
                          </a:solidFill>
                          <a:latin typeface="Arial"/>
                        </a:rPr>
                        <a:t>ACTIVATED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ECE4F5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365654" y="4717521"/>
            <a:ext cx="4367555" cy="35348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Storm centre within 250 km of Fiji during these days (±1 day): ✓ (closest 0 km). Rainfall here is invented for the exercise.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65654" y="5189538"/>
            <a:ext cx="4240345" cy="728927"/>
            <a:chOff x="365654" y="5189538"/>
            <a:chExt cx="4240345" cy="728927"/>
          </a:xfrm>
        </p:grpSpPr>
        <p:sp>
          <p:nvSpPr>
            <p:cNvPr id="10" name="callout purple"/>
            <p:cNvSpPr/>
            <p:nvPr/>
          </p:nvSpPr>
          <p:spPr>
            <a:xfrm>
              <a:off x="365654" y="5189538"/>
              <a:ext cx="4240345" cy="728927"/>
            </a:xfrm>
            <a:prstGeom prst="rect">
              <a:avLst/>
            </a:prstGeom>
            <a:solidFill>
              <a:srgbClr val="F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Observational trigger activated.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An automated email goes to the trigger distribution list. It is treated like the action trigger: all anticipatory actions start.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5654" y="5189538"/>
              <a:ext cx="33867" cy="728927"/>
            </a:xfrm>
            <a:prstGeom prst="rect">
              <a:avLst/>
            </a:prstGeom>
            <a:solidFill>
              <a:srgbClr val="6A3D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2" name="picture" descr="Two-day rainfall map, Days 3 and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132" y="1067329"/>
            <a:ext cx="7000081" cy="4689210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365654" y="2085975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l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365654" y="2339975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CHARLIE · DAY 5, 12:00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65654" y="2543175"/>
            <a:ext cx="4240345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The observational trigger email</a:t>
            </a:r>
          </a:p>
        </p:txBody>
      </p:sp>
      <p:sp>
        <p:nvSpPr>
          <p:cNvPr id="5" name="lede"/>
          <p:cNvSpPr txBox="1"/>
          <p:nvPr/>
        </p:nvSpPr>
        <p:spPr>
          <a:xfrm>
            <a:off x="365654" y="2970609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At the daily rainfall check, the monitoring system sends an email like this automatically to the trigger distribution list (framework Annex 4).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365654" y="3747558"/>
            <a:ext cx="4240345" cy="176742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Mock-up for the exercise.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65654" y="4042833"/>
            <a:ext cx="4240345" cy="728927"/>
            <a:chOff x="365654" y="4042833"/>
            <a:chExt cx="4240345" cy="728927"/>
          </a:xfrm>
        </p:grpSpPr>
        <p:sp>
          <p:nvSpPr>
            <p:cNvPr id="8" name="callout purple"/>
            <p:cNvSpPr/>
            <p:nvPr/>
          </p:nvSpPr>
          <p:spPr>
            <a:xfrm>
              <a:off x="365654" y="4042833"/>
              <a:ext cx="4240345" cy="728927"/>
            </a:xfrm>
            <a:prstGeom prst="rect">
              <a:avLst/>
            </a:prstGeom>
            <a:solidFill>
              <a:srgbClr val="F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Observational trigger activated.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An automated email goes to the trigger distribution list. It is treated like the action trigger: all anticipatory actions start.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042833"/>
              <a:ext cx="33867" cy="728927"/>
            </a:xfrm>
            <a:prstGeom prst="rect">
              <a:avLst/>
            </a:prstGeom>
            <a:solidFill>
              <a:srgbClr val="6A3D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Mock observational trigger email for Cyclone Charli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530" y="531680"/>
            <a:ext cx="6051285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ercise"/>
          <p:cNvSpPr/>
          <p:nvPr/>
        </p:nvSpPr>
        <p:spPr>
          <a:xfrm>
            <a:off x="5121143" y="1443038"/>
            <a:ext cx="1949582" cy="169333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8467">
            <a:solidFill>
              <a:srgbClr val="E8C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3867" rIns="110067" bIns="33867" lIns="110067">
            <a:noAutofit/>
          </a:bodyPr>
          <a:lstStyle/>
          <a:p>
            <a:pPr algn="ctr"/>
            <a:r>
              <a:rPr sz="750" b="1" i="0" spc="77">
                <a:solidFill>
                  <a:srgbClr val="7A5A00"/>
                </a:solidFill>
                <a:latin typeface="Arial"/>
              </a:rPr>
              <a:t>EXERCISE · FICTIONAL STORM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100667" y="1697037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CYCLONE CHARLIE · RECAP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100667" y="1900237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Observational trigger only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2286000" y="2327672"/>
          <a:ext cx="7611533" cy="240082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4834"/>
                <a:gridCol w="3967824"/>
                <a:gridCol w="2428875"/>
              </a:tblGrid>
              <a:tr h="266700"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T="76200" marR="101600" marB="76200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WHAT CAME IN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355732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1, 00:00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1: 0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2, 00:00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2: 0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3, 00:00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3: 0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4, 00:00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Forecast 4: 0 people in 64-kt zone (120 h), 0 (72 h)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no new activation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4, 12:00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Rainfall, Days 2 and 3: 125 mm country average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below 190 mm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401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Day 5, 12:00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Rainfall, Days 3 and 4: 210 mm country average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6A3D9A"/>
                          </a:solidFill>
                          <a:latin typeface="Arial"/>
                        </a:rPr>
                        <a:t>OBSERVATIONAL ACTIVATED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2286000" y="4872434"/>
            <a:ext cx="7620000" cy="542396"/>
            <a:chOff x="2286000" y="4872434"/>
            <a:chExt cx="7620000" cy="542396"/>
          </a:xfrm>
        </p:grpSpPr>
        <p:sp>
          <p:nvSpPr>
            <p:cNvPr id="7" name="callout purple"/>
            <p:cNvSpPr/>
            <p:nvPr/>
          </p:nvSpPr>
          <p:spPr>
            <a:xfrm>
              <a:off x="2286000" y="4872434"/>
              <a:ext cx="7620000" cy="542396"/>
            </a:xfrm>
            <a:prstGeom prst="rect">
              <a:avLst/>
            </a:prstGeom>
            <a:solidFill>
              <a:srgbClr val="F3EE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0" i="0">
                  <a:solidFill>
                    <a:srgbClr val="1E2A2B"/>
                  </a:solidFill>
                  <a:latin typeface="Arial"/>
                </a:rPr>
                <a:t>No forecast trigger activated: Charlie never had hurricane-force winds. The observational trigger is the safety net — it activates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after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the rain has fallen, so there is no lead time, and it is treated like the action trigger.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86000" y="4872434"/>
              <a:ext cx="33867" cy="542396"/>
            </a:xfrm>
            <a:prstGeom prst="rect">
              <a:avLst/>
            </a:prstGeom>
            <a:solidFill>
              <a:srgbClr val="6A3D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1100667" y="1937411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100667" y="2140611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The three scenarios side by side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947333" y="2568046"/>
          <a:ext cx="8288865" cy="184652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68128"/>
                <a:gridCol w="1427162"/>
                <a:gridCol w="1427162"/>
                <a:gridCol w="1581679"/>
                <a:gridCol w="1684734"/>
              </a:tblGrid>
              <a:tr h="266700"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STORM</a:t>
                      </a:r>
                    </a:p>
                  </a:txBody>
                  <a:tcPr marT="76200" marR="101600" marB="76200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READINESS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OBSERVATIONAL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EMAILS SENT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529431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Cyclone Alpha</a:t>
                      </a:r>
                      <a:br/>
                      <a:r>
                        <a:rPr sz="900" b="0" i="0">
                          <a:solidFill>
                            <a:srgbClr val="5E6A6B"/>
                          </a:solidFill>
                          <a:latin typeface="Arial"/>
                        </a:rPr>
                        <a:t>Readiness, then action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Day 1, 12:00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C62828"/>
                          </a:solidFill>
                          <a:latin typeface="Arial"/>
                        </a:rPr>
                        <a:t>Day 2, 12:00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readiness, action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5198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Cyclone Bravo</a:t>
                      </a:r>
                      <a:br/>
                      <a:r>
                        <a:rPr sz="900" b="0" i="0">
                          <a:solidFill>
                            <a:srgbClr val="5E6A6B"/>
                          </a:solidFill>
                          <a:latin typeface="Arial"/>
                        </a:rPr>
                        <a:t>Readiness, then nothing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F57C00"/>
                          </a:solidFill>
                          <a:latin typeface="Arial"/>
                        </a:rPr>
                        <a:t>Day 1, 00:00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5198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Cyclone Charlie</a:t>
                      </a:r>
                      <a:br/>
                      <a:r>
                        <a:rPr sz="900" b="0" i="0">
                          <a:solidFill>
                            <a:srgbClr val="5E6A6B"/>
                          </a:solidFill>
                          <a:latin typeface="Arial"/>
                        </a:rPr>
                        <a:t>Observational trigger only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6A3D9A"/>
                          </a:solidFill>
                          <a:latin typeface="Arial"/>
                        </a:rPr>
                        <a:t>Day 5, 12:00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2346113" y="4558506"/>
            <a:ext cx="7499773" cy="3619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The forecast files used here are kept in the repository (</a:t>
            </a:r>
            <a:r>
              <a:rPr sz="950" b="0" i="0">
                <a:solidFill>
                  <a:srgbClr val="5E6A6B"/>
                </a:solidFill>
                <a:latin typeface="Courier New"/>
              </a:rPr>
              <a:t>slides/simex_injects/</a:t>
            </a:r>
            <a:r>
              <a:rPr sz="950" b="0" i="0">
                <a:solidFill>
                  <a:srgbClr val="5E6A6B"/>
                </a:solidFill>
                <a:latin typeface="Arial"/>
              </a:rPr>
              <a:t>) and can be fed to the live monitoring system in test mode for a hands-on exercise.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Fiji AA simulation exercise</dc:title>
  <dc:subject/>
  <dc:creator>OCHA Centre for Humanitarian Data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